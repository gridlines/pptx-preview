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jpg" ContentType="image/jpeg"/>
  <Default Extension="png" ContentType="image/png"/>
  <Default Extension="gif" ContentType="image/gif"/>
  <Default Extension="bmp" ContentType="image/bmp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 type="custom"/>
  <p:notesSz cx="6858000" cy="12192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theme" Target="theme/them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docs.example.com/architecture" TargetMode="Externa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data.example.com/lineage" TargetMode="Externa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gartner.com" TargetMode="External"/><Relationship Id="rId3" Type="http://schemas.openxmlformats.org/officeDocument/2006/relationships/hyperlink" Target="https://forrester.com" TargetMode="Externa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mailto:strategy@example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35000" y="635000"/>
            <a:ext cx="10922000" cy="889000"/>
          </a:xfrm>
          <a:prstGeom prst="rect">
            <a:avLst/>
          </a:prstGeom>
        </p:spPr>
        <p:txBody>
          <a:bodyPr wrap="square" rtlCol="0"/>
          <a:lstStyle/>
          <a:p>
            <a:pPr algn="ctr"/>
            <a:r>
              <a:rPr lang="en-US" sz="36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Annual Strategy Summit</a:t>
            </a:r>
          </a:p>
        </p:txBody>
      </p:sp>
      <p:sp>
        <p:nvSpPr>
          <p:cNvPr id="3" name="Shape 3"/>
          <p:cNvSpPr txBox="1"/>
          <p:nvPr/>
        </p:nvSpPr>
        <p:spPr>
          <a:xfrm>
            <a:off x="635000" y="1651000"/>
            <a:ext cx="10922000" cy="736600"/>
          </a:xfrm>
          <a:prstGeom prst="rect">
            <a:avLst/>
          </a:prstGeom>
        </p:spPr>
        <p:txBody>
          <a:bodyPr wrap="square" rtlCol="0"/>
          <a:lstStyle/>
          <a:p>
            <a:pPr algn="ctr"/>
            <a:r>
              <a:rPr lang="en-US" sz="2800" b="1">
                <a:solidFill>
                  <a:srgbClr val="BDC3C7"/>
                </a:solidFill>
                <a:latin typeface="Georgia"/>
                <a:ea typeface="Georgia"/>
                <a:cs typeface="Georgia"/>
              </a:rPr>
              <a:t>Global Operations &amp; Growth Initiatives</a:t>
            </a:r>
          </a:p>
        </p:txBody>
      </p:sp>
      <p:sp>
        <p:nvSpPr>
          <p:cNvPr id="4" name="Shape 4"/>
          <p:cNvSpPr txBox="1"/>
          <p:nvPr/>
        </p:nvSpPr>
        <p:spPr>
          <a:xfrm>
            <a:off x="635000" y="2514600"/>
            <a:ext cx="10922000" cy="546100"/>
          </a:xfrm>
          <a:prstGeom prst="rect">
            <a:avLst/>
          </a:prstGeom>
        </p:spPr>
        <p:txBody>
          <a:bodyPr wrap="square" rtlCol="0"/>
          <a:lstStyle/>
          <a:p>
            <a:pPr algn="ctr"/>
            <a:r>
              <a:rPr lang="en-US" sz="1800">
                <a:latin typeface="Calibri"/>
                <a:ea typeface="Calibri"/>
                <a:cs typeface="Calibri"/>
              </a:rPr>
              <a:t>
          </a:t>
            </a:r>
            <a:r>
              <a:rPr lang="en-US" sz="1500" b="1">
                <a:solidFill>
                  <a:srgbClr val="F39C12"/>
                </a:solidFill>
                <a:latin typeface="Calibri"/>
                <a:ea typeface="Calibri"/>
                <a:cs typeface="Calibri"/>
              </a:rPr>
              <a:t>March 2026</a:t>
            </a:r>
            <a:r>
              <a:rPr lang="en-US" sz="1800">
                <a:latin typeface="Calibri"/>
                <a:ea typeface="Calibri"/>
                <a:cs typeface="Calibri"/>
              </a:rPr>
              <a:t>
          </a:t>
            </a:r>
            <a:r>
              <a:rPr lang="en-US" sz="1800">
                <a:solidFill>
                  <a:srgbClr val="95A5A6"/>
                </a:solidFill>
                <a:latin typeface="Calibri"/>
                <a:ea typeface="Calibri"/>
                <a:cs typeface="Calibri"/>
              </a:rPr>
              <a:t> | </a:t>
            </a:r>
            <a:r>
              <a:rPr lang="en-US" sz="1800">
                <a:latin typeface="Calibri"/>
                <a:ea typeface="Calibri"/>
                <a:cs typeface="Calibri"/>
              </a:rPr>
              <a:t>
          </a:t>
            </a:r>
            <a:r>
              <a:rPr lang="en-US" sz="1800" i="1">
                <a:solidFill>
                  <a:srgbClr val="ECF0F1"/>
                </a:solidFill>
                <a:latin typeface="Calibri"/>
                <a:ea typeface="Calibri"/>
                <a:cs typeface="Calibri"/>
              </a:rPr>
              <a:t>Board of Directors Session</a:t>
            </a:r>
            <a:r>
              <a:rPr lang="en-US" sz="1800">
                <a:latin typeface="Calibri"/>
                <a:ea typeface="Calibri"/>
                <a:cs typeface="Calibri"/>
              </a:rPr>
              <a:t>
        </a:t>
            </a:r>
          </a:p>
        </p:txBody>
      </p:sp>
      <p:sp>
        <p:nvSpPr>
          <p:cNvPr id="5" name="Shape 5"/>
          <p:cNvSpPr txBox="1"/>
          <p:nvPr/>
        </p:nvSpPr>
        <p:spPr>
          <a:xfrm>
            <a:off x="635000" y="3187700"/>
            <a:ext cx="10922000" cy="546100"/>
          </a:xfrm>
          <a:prstGeom prst="rect">
            <a:avLst/>
          </a:prstGeom>
        </p:spPr>
        <p:txBody>
          <a:bodyPr wrap="square" rtlCol="0"/>
          <a:lstStyle/>
          <a:p>
            <a:pPr algn="ctr"/>
            <a:r>
              <a:rPr lang="en-US" sz="1800">
                <a:latin typeface="Calibri"/>
                <a:ea typeface="Calibri"/>
                <a:cs typeface="Calibri"/>
              </a:rPr>
              <a:t>
          </a:t>
            </a:r>
            <a:r>
              <a:rPr lang="en-US" sz="1050" b="1">
                <a:solidFill>
                  <a:srgbClr val="FFFFFF"/>
                </a:solidFill>
                <a:highlight>
                  <a:srgbClr val="E74C3C"/>
                </a:highlight>
                <a:latin typeface="Calibri"/>
                <a:ea typeface="Calibri"/>
                <a:cs typeface="Calibri"/>
              </a:rPr>
              <a:t> CONFIDENTIAL </a:t>
            </a:r>
            <a:r>
              <a:rPr lang="en-US" sz="1800">
                <a:latin typeface="Calibri"/>
                <a:ea typeface="Calibri"/>
                <a:cs typeface="Calibri"/>
              </a:rPr>
              <a:t>
       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35000" y="635000"/>
            <a:ext cx="10922000" cy="889000"/>
          </a:xfrm>
          <a:prstGeom prst="rect">
            <a:avLst/>
          </a:prstGeom>
        </p:spPr>
        <p:txBody>
          <a:bodyPr wrap="square" rtlCol="0"/>
          <a:lstStyle/>
          <a:p>
            <a:pPr/>
            <a:r>
              <a:rPr lang="en-US" sz="3600" b="1">
                <a:solidFill>
                  <a:srgbClr val="2C3E50"/>
                </a:solidFill>
                <a:latin typeface="Trebuchet MS"/>
                <a:ea typeface="Trebuchet MS"/>
                <a:cs typeface="Trebuchet MS"/>
              </a:rPr>
              <a:t>Executive Summary</a:t>
            </a:r>
          </a:p>
        </p:txBody>
      </p:sp>
      <p:sp>
        <p:nvSpPr>
          <p:cNvPr id="3" name="Shape 3"/>
          <p:cNvSpPr txBox="1"/>
          <p:nvPr/>
        </p:nvSpPr>
        <p:spPr>
          <a:xfrm>
            <a:off x="635000" y="1651000"/>
            <a:ext cx="10922000" cy="603250"/>
          </a:xfrm>
          <a:prstGeom prst="rect">
            <a:avLst/>
          </a:prstGeom>
        </p:spPr>
        <p:txBody>
          <a:bodyPr wrap="square" rtlCol="0"/>
          <a:lstStyle/>
          <a:p>
            <a:pPr/>
            <a:r>
              <a:rPr lang="en-US" sz="1800">
                <a:latin typeface="Calibri"/>
                <a:ea typeface="Calibri"/>
                <a:cs typeface="Calibri"/>
              </a:rPr>
              <a:t>
          Our </a:t>
            </a:r>
            <a:r>
              <a:rPr lang="en-US" sz="1800" b="1">
                <a:solidFill>
                  <a:srgbClr val="E74C3C"/>
                </a:solidFill>
                <a:latin typeface="Calibri"/>
                <a:ea typeface="Calibri"/>
                <a:cs typeface="Calibri"/>
              </a:rPr>
              <a:t>Q4 revenue</a:t>
            </a:r>
            <a:r>
              <a:rPr lang="en-US" sz="1800">
                <a:latin typeface="Calibri"/>
                <a:ea typeface="Calibri"/>
                <a:cs typeface="Calibri"/>
              </a:rPr>
              <a:t> reached
          </a:t>
            </a:r>
            <a:r>
              <a:rPr lang="en-US" sz="2100" b="1">
                <a:solidFill>
                  <a:srgbClr val="27AE60"/>
                </a:solidFill>
                <a:latin typeface="Calibri"/>
                <a:ea typeface="Calibri"/>
                <a:cs typeface="Calibri"/>
              </a:rPr>
              <a:t>$127.4M</a:t>
            </a:r>
            <a:r>
              <a:rPr lang="en-US" sz="1800">
                <a:latin typeface="Calibri"/>
                <a:ea typeface="Calibri"/>
                <a:cs typeface="Calibri"/>
              </a:rPr>
              <a:t>,
          a </a:t>
            </a:r>
            <a:r>
              <a:rPr lang="en-US" sz="1800" b="1" u="sng">
                <a:latin typeface="Calibri"/>
                <a:ea typeface="Calibri"/>
                <a:cs typeface="Calibri"/>
              </a:rPr>
              <a:t>record quarter</a:t>
            </a:r>
            <a:r>
              <a:rPr lang="en-US" sz="1800">
                <a:latin typeface="Calibri"/>
                <a:ea typeface="Calibri"/>
                <a:cs typeface="Calibri"/>
              </a:rPr>
              <a:t> surpassing the previous high by
          </a:t>
            </a:r>
            <a:r>
              <a:rPr lang="en-US" sz="1800" b="1">
                <a:solidFill>
                  <a:srgbClr val="2980B9"/>
                </a:solidFill>
                <a:latin typeface="Calibri"/>
                <a:ea typeface="Calibri"/>
                <a:cs typeface="Calibri"/>
              </a:rPr>
              <a:t>18.3%</a:t>
            </a:r>
            <a:r>
              <a:rPr lang="en-US" sz="1800">
                <a:latin typeface="Calibri"/>
                <a:ea typeface="Calibri"/>
                <a:cs typeface="Calibri"/>
              </a:rPr>
              <a:t>.
        </a:t>
            </a:r>
          </a:p>
        </p:txBody>
      </p:sp>
      <p:sp>
        <p:nvSpPr>
          <p:cNvPr id="4" name="Shape 4"/>
          <p:cNvSpPr txBox="1"/>
          <p:nvPr/>
        </p:nvSpPr>
        <p:spPr>
          <a:xfrm>
            <a:off x="635000" y="2387600"/>
            <a:ext cx="10922000" cy="546100"/>
          </a:xfrm>
          <a:prstGeom prst="rect">
            <a:avLst/>
          </a:prstGeom>
        </p:spPr>
        <p:txBody>
          <a:bodyPr wrap="square" rtlCol="0"/>
          <a:lstStyle/>
          <a:p>
            <a:pPr/>
            <a:r>
              <a:rPr lang="en-US" sz="1800">
                <a:latin typeface="Calibri"/>
                <a:ea typeface="Calibri"/>
                <a:cs typeface="Calibri"/>
              </a:rPr>
              <a:t>
          </a:t>
            </a:r>
            <a:r>
              <a:rPr lang="en-US" sz="1800" i="1">
                <a:solidFill>
                  <a:srgbClr val="8E44AD"/>
                </a:solidFill>
                <a:latin typeface="Calibri"/>
                <a:ea typeface="Calibri"/>
                <a:cs typeface="Calibri"/>
              </a:rPr>
              <a:t>Customer acquisition cost</a:t>
            </a:r>
            <a:r>
              <a:rPr lang="en-US" sz="1800">
                <a:latin typeface="Calibri"/>
                <a:ea typeface="Calibri"/>
                <a:cs typeface="Calibri"/>
              </a:rPr>
              <a:t> decreased
          </a:t>
            </a:r>
            <a:r>
              <a:rPr lang="en-US" sz="1800" strike="sngStrike">
                <a:solidFill>
                  <a:srgbClr val="95A5A6"/>
                </a:solidFill>
                <a:latin typeface="Calibri"/>
                <a:ea typeface="Calibri"/>
                <a:cs typeface="Calibri"/>
              </a:rPr>
              <a:t>from $342</a:t>
            </a:r>
            <a:r>
              <a:rPr lang="en-US" sz="1800">
                <a:latin typeface="Calibri"/>
                <a:ea typeface="Calibri"/>
                <a:cs typeface="Calibri"/>
              </a:rPr>
              <a:t> to
          </a:t>
            </a:r>
            <a:r>
              <a:rPr lang="en-US" sz="1650" b="1">
                <a:solidFill>
                  <a:srgbClr val="27AE60"/>
                </a:solidFill>
                <a:latin typeface="Calibri"/>
                <a:ea typeface="Calibri"/>
                <a:cs typeface="Calibri"/>
              </a:rPr>
              <a:t>$219</a:t>
            </a:r>
            <a:r>
              <a:rPr lang="en-US" sz="1800">
                <a:latin typeface="Calibri"/>
                <a:ea typeface="Calibri"/>
                <a:cs typeface="Calibri"/>
              </a:rPr>
              <a:t>
          (</a:t>
            </a:r>
            <a:r>
              <a:rPr lang="en-US" sz="1800">
                <a:solidFill>
                  <a:srgbClr val="27AE60"/>
                </a:solidFill>
                <a:latin typeface="Calibri"/>
                <a:ea typeface="Calibri"/>
                <a:cs typeface="Calibri"/>
              </a:rPr>
              <a:t>-36%</a:t>
            </a:r>
            <a:r>
              <a:rPr lang="en-US" sz="1800">
                <a:latin typeface="Calibri"/>
                <a:ea typeface="Calibri"/>
                <a:cs typeface="Calibri"/>
              </a:rPr>
              <a:t>), while
          </a:t>
            </a:r>
            <a:r>
              <a:rPr lang="en-US" sz="1800" b="1" u="sng">
                <a:solidFill>
                  <a:srgbClr val="2C3E50"/>
                </a:solidFill>
                <a:latin typeface="Calibri"/>
                <a:ea typeface="Calibri"/>
                <a:cs typeface="Calibri"/>
              </a:rPr>
              <a:t>LTV:CAC ratio</a:t>
            </a:r>
            <a:r>
              <a:rPr lang="en-US" sz="1800">
                <a:latin typeface="Calibri"/>
                <a:ea typeface="Calibri"/>
                <a:cs typeface="Calibri"/>
              </a:rPr>
              <a:t>
          improved to </a:t>
            </a:r>
            <a:r>
              <a:rPr lang="en-US" sz="1800" b="1">
                <a:latin typeface="Calibri"/>
                <a:ea typeface="Calibri"/>
                <a:cs typeface="Calibri"/>
              </a:rPr>
              <a:t>5.8x</a:t>
            </a:r>
            <a:r>
              <a:rPr lang="en-US" sz="1800">
                <a:latin typeface="Calibri"/>
                <a:ea typeface="Calibri"/>
                <a:cs typeface="Calibri"/>
              </a:rPr>
              <a:t>.
        </a:t>
            </a:r>
          </a:p>
        </p:txBody>
      </p:sp>
      <p:sp>
        <p:nvSpPr>
          <p:cNvPr id="5" name="Shape 5"/>
          <p:cNvSpPr txBox="1"/>
          <p:nvPr/>
        </p:nvSpPr>
        <p:spPr>
          <a:xfrm>
            <a:off x="635000" y="3060700"/>
            <a:ext cx="10922000" cy="546100"/>
          </a:xfrm>
          <a:prstGeom prst="rect">
            <a:avLst/>
          </a:prstGeom>
        </p:spPr>
        <p:txBody>
          <a:bodyPr wrap="square" rtlCol="0"/>
          <a:lstStyle/>
          <a:p>
            <a:pPr/>
            <a:r>
              <a:rPr lang="en-US" sz="1800">
                <a:latin typeface="Calibri"/>
                <a:ea typeface="Calibri"/>
                <a:cs typeface="Calibri"/>
              </a:rPr>
              <a:t>
          Key risk: </a:t>
            </a:r>
            <a:r>
              <a:rPr lang="en-US" sz="1800" b="1">
                <a:solidFill>
                  <a:srgbClr val="E74C3C"/>
                </a:solidFill>
                <a:highlight>
                  <a:srgbClr val="FDEDEC"/>
                </a:highlight>
                <a:latin typeface="Calibri"/>
                <a:ea typeface="Calibri"/>
                <a:cs typeface="Calibri"/>
              </a:rPr>
              <a:t>Supply chain disruptions</a:t>
            </a:r>
            <a:r>
              <a:rPr lang="en-US" sz="1800">
                <a:latin typeface="Calibri"/>
                <a:ea typeface="Calibri"/>
                <a:cs typeface="Calibri"/>
              </a:rPr>
              <a:t>
          in APAC may impact Q2 margins by
          </a:t>
            </a:r>
            <a:r>
              <a:rPr lang="en-US" sz="1800" strike="sngStrike">
                <a:solidFill>
                  <a:srgbClr val="E74C3C"/>
                </a:solidFill>
                <a:latin typeface="Calibri"/>
                <a:ea typeface="Calibri"/>
                <a:cs typeface="Calibri"/>
              </a:rPr>
              <a:t>2-3pp</a:t>
            </a:r>
            <a:r>
              <a:rPr lang="en-US" sz="1800">
                <a:latin typeface="Calibri"/>
                <a:ea typeface="Calibri"/>
                <a:cs typeface="Calibri"/>
              </a:rPr>
              <a:t>
          </a:t>
            </a:r>
            <a:r>
              <a:rPr lang="en-US" sz="1800" b="1">
                <a:solidFill>
                  <a:srgbClr val="E67E22"/>
                </a:solidFill>
                <a:latin typeface="Calibri"/>
                <a:ea typeface="Calibri"/>
                <a:cs typeface="Calibri"/>
              </a:rPr>
              <a:t> revised: 1.5-2pp</a:t>
            </a:r>
            <a:r>
              <a:rPr lang="en-US" sz="1800">
                <a:latin typeface="Calibri"/>
                <a:ea typeface="Calibri"/>
                <a:cs typeface="Calibri"/>
              </a:rPr>
              <a:t>.
        </a:t>
            </a:r>
          </a:p>
        </p:txBody>
      </p:sp>
      <p:sp>
        <p:nvSpPr>
          <p:cNvPr id="6" name="Shape 6"/>
          <p:cNvSpPr txBox="1"/>
          <p:nvPr/>
        </p:nvSpPr>
        <p:spPr>
          <a:xfrm>
            <a:off x="635000" y="3733800"/>
            <a:ext cx="10922000" cy="546100"/>
          </a:xfrm>
          <a:prstGeom prst="rect">
            <a:avLst/>
          </a:prstGeom>
        </p:spPr>
        <p:txBody>
          <a:bodyPr wrap="square" rtlCol="0"/>
          <a:lstStyle/>
          <a:p>
            <a:pPr marL="508000"/>
            <a:r>
              <a:rPr lang="en-US" sz="1800">
                <a:latin typeface="Calibri"/>
                <a:ea typeface="Calibri"/>
                <a:cs typeface="Calibri"/>
              </a:rPr>
              <a:t>
          </a:t>
            </a:r>
            <a:r>
              <a:rPr lang="en-US" sz="1200" i="1">
                <a:solidFill>
                  <a:srgbClr val="7F8C8D"/>
                </a:solidFill>
                <a:latin typeface="Calibri"/>
                <a:ea typeface="Calibri"/>
                <a:cs typeface="Calibri"/>
              </a:rPr>
              <a:t>"The numbers tell a compelling story of operational excellence and strategic discipline." — CFO Report</a:t>
            </a:r>
            <a:r>
              <a:rPr lang="en-US" sz="1800">
                <a:latin typeface="Calibri"/>
                <a:ea typeface="Calibri"/>
                <a:cs typeface="Calibri"/>
              </a:rPr>
              <a:t>
       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35000" y="635000"/>
            <a:ext cx="10922000" cy="889000"/>
          </a:xfrm>
          <a:prstGeom prst="rect">
            <a:avLst/>
          </a:prstGeom>
        </p:spPr>
        <p:txBody>
          <a:bodyPr wrap="square" rtlCol="0"/>
          <a:lstStyle/>
          <a:p>
            <a:pPr/>
            <a:r>
              <a:rPr lang="en-US" sz="3600" b="1">
                <a:solidFill>
                  <a:srgbClr val="1A5276"/>
                </a:solidFill>
                <a:latin typeface="Calibri"/>
                <a:ea typeface="Calibri"/>
                <a:cs typeface="Calibri"/>
              </a:rPr>
              <a:t>Regional Performance Matrix</a:t>
            </a:r>
          </a:p>
        </p:txBody>
      </p:sp>
      <p:graphicFrame>
        <p:nvGraphicFramePr>
          <p:cNvPr id="3" name="Table 3"/>
          <p:cNvGraphicFramePr>
            <a:graphicFrameLocks noGrp="1"/>
          </p:cNvGraphicFramePr>
          <p:nvPr/>
        </p:nvGraphicFramePr>
        <p:xfrm>
          <a:off x="635000" y="1651000"/>
          <a:ext cx="10160000" cy="36830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2032000"/>
                <a:gridCol w="2032000"/>
                <a:gridCol w="2032000"/>
                <a:gridCol w="2032000"/>
                <a:gridCol w="2032000"/>
              </a:tblGrid>
              <a:tr h="368300">
                <a:tc>
                  <a:txBody>
                    <a:bodyPr wrap="square" rtlCol="0"/>
                    <a:lstStyle/>
                    <a:p>
                      <a:pPr/>
                      <a:r>
                        <a:rPr lang="en-US" sz="1800" b="1">
                          <a:latin typeface="Calibri"/>
                          <a:ea typeface="Calibri"/>
                          <a:cs typeface="Calibri"/>
                        </a:rPr>
                        <a:t>Region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1800" b="1">
                          <a:latin typeface="Calibri"/>
                          <a:ea typeface="Calibri"/>
                          <a:cs typeface="Calibri"/>
                        </a:rPr>
                        <a:t>Revenue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1800" b="1">
                          <a:latin typeface="Calibri"/>
                          <a:ea typeface="Calibri"/>
                          <a:cs typeface="Calibri"/>
                        </a:rPr>
                        <a:t>Growth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1800" b="1">
                          <a:latin typeface="Calibri"/>
                          <a:ea typeface="Calibri"/>
                          <a:cs typeface="Calibri"/>
                        </a:rPr>
                        <a:t>Margin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1800" b="1">
                          <a:latin typeface="Calibri"/>
                          <a:ea typeface="Calibri"/>
                          <a:cs typeface="Calibri"/>
                        </a:rPr>
                        <a:t>Status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Shape 4"/>
          <p:cNvSpPr txBox="1"/>
          <p:nvPr/>
        </p:nvSpPr>
        <p:spPr>
          <a:xfrm>
            <a:off x="635000" y="2146300"/>
            <a:ext cx="10922000" cy="546100"/>
          </a:xfrm>
          <a:prstGeom prst="rect">
            <a:avLst/>
          </a:prstGeom>
        </p:spPr>
        <p:txBody>
          <a:bodyPr wrap="square" rtlCol="0"/>
          <a:lstStyle/>
          <a:p>
            <a:pPr algn="r"/>
            <a:r>
              <a:rPr lang="en-US" sz="1800">
                <a:latin typeface="Calibri"/>
                <a:ea typeface="Calibri"/>
                <a:cs typeface="Calibri"/>
              </a:rPr>
              <a:t>
          </a:t>
            </a:r>
            <a:r>
              <a:rPr lang="en-US" sz="900" i="1">
                <a:solidFill>
                  <a:srgbClr val="95A5A6"/>
                </a:solidFill>
                <a:latin typeface="Calibri"/>
                <a:ea typeface="Calibri"/>
                <a:cs typeface="Calibri"/>
              </a:rPr>
              <a:t>* All figures in USD. Growth is YoY. Margins are gross.</a:t>
            </a:r>
            <a:r>
              <a:rPr lang="en-US" sz="1800">
                <a:latin typeface="Calibri"/>
                <a:ea typeface="Calibri"/>
                <a:cs typeface="Calibri"/>
              </a:rPr>
              <a:t>
       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35000" y="635000"/>
            <a:ext cx="10922000" cy="889000"/>
          </a:xfrm>
          <a:prstGeom prst="rect">
            <a:avLst/>
          </a:prstGeom>
        </p:spPr>
        <p:txBody>
          <a:bodyPr wrap="square" rtlCol="0"/>
          <a:lstStyle/>
          <a:p>
            <a:pPr/>
            <a:r>
              <a:rPr lang="en-US" sz="3600" b="1">
                <a:solidFill>
                  <a:srgbClr val="6C3483"/>
                </a:solidFill>
                <a:latin typeface="Calibri"/>
                <a:ea typeface="Calibri"/>
                <a:cs typeface="Calibri"/>
              </a:rPr>
              <a:t>Technology &amp; Architecture</a:t>
            </a:r>
          </a:p>
        </p:txBody>
      </p:sp>
      <p:sp>
        <p:nvSpPr>
          <p:cNvPr id="3" name="Shape 3"/>
          <p:cNvSpPr txBox="1"/>
          <p:nvPr/>
        </p:nvSpPr>
        <p:spPr>
          <a:xfrm>
            <a:off x="635000" y="1651000"/>
            <a:ext cx="10922000" cy="4318000"/>
          </a:xfrm>
          <a:prstGeom prst="rect">
            <a:avLst/>
          </a:prstGeom>
        </p:spPr>
        <p:txBody>
          <a:bodyPr wrap="square" rtlCol="0"/>
          <a:lstStyle/>
          <a:p>
            <a:pPr indent="-228600" marL="457200" lvl="0">
              <a:buAutoNum type="arabicPeriod"/>
            </a:pPr>
            <a:r>
              <a:rPr lang="en-US" sz="1800">
                <a:latin typeface="Calibri"/>
                <a:ea typeface="Calibri"/>
                <a:cs typeface="Calibri"/>
              </a:rPr>
              <a:t>Infrastructure Modernization</a:t>
            </a:r>
          </a:p>
          <a:p>
            <a:pPr indent="-228600" marL="914400" lvl="1">
              <a:buChar char="•"/>
            </a:pPr>
            <a:r>
              <a:rPr lang="en-US" sz="1800">
                <a:latin typeface="Calibri"/>
                <a:ea typeface="Calibri"/>
                <a:cs typeface="Calibri"/>
              </a:rPr>
              <a:t>Migrate from </a:t>
            </a:r>
            <a:r>
              <a:rPr lang="en-US" sz="1800">
                <a:latin typeface="Calibri"/>
                <a:ea typeface="Calibri"/>
                <a:cs typeface="Calibri"/>
              </a:rPr>
              <a:t>EC2</a:t>
            </a:r>
            <a:r>
              <a:rPr lang="en-US" sz="1800">
                <a:latin typeface="Calibri"/>
                <a:ea typeface="Calibri"/>
                <a:cs typeface="Calibri"/>
              </a:rPr>
              <a:t> to </a:t>
            </a:r>
            <a:r>
              <a:rPr lang="en-US" sz="1800">
                <a:latin typeface="Calibri"/>
                <a:ea typeface="Calibri"/>
                <a:cs typeface="Calibri"/>
              </a:rPr>
              <a:t>EKS</a:t>
            </a:r>
            <a:r>
              <a:rPr lang="en-US" sz="1800">
                <a:latin typeface="Calibri"/>
                <a:ea typeface="Calibri"/>
                <a:cs typeface="Calibri"/>
              </a:rPr>
              <a:t> (Kubernetes) — </a:t>
            </a:r>
            <a:r>
              <a:rPr lang="en-US" sz="1800">
                <a:latin typeface="Calibri"/>
                <a:ea typeface="Calibri"/>
                <a:cs typeface="Calibri"/>
              </a:rPr>
              <a:t>73% complete</a:t>
            </a:r>
          </a:p>
          <a:p>
            <a:pPr indent="-228600" marL="914400" lvl="1">
              <a:buChar char="•"/>
            </a:pPr>
            <a:r>
              <a:rPr lang="en-US" sz="1800">
                <a:latin typeface="Calibri"/>
                <a:ea typeface="Calibri"/>
                <a:cs typeface="Calibri"/>
              </a:rPr>
              <a:t>Implement </a:t>
            </a:r>
            <a:r>
              <a:rPr lang="en-US" sz="1800">
                <a:latin typeface="Calibri"/>
                <a:ea typeface="Calibri"/>
                <a:cs typeface="Calibri"/>
              </a:rPr>
              <a:t>service mesh</a:t>
            </a:r>
            <a:r>
              <a:rPr lang="en-US" sz="1800">
                <a:latin typeface="Calibri"/>
                <a:ea typeface="Calibri"/>
                <a:cs typeface="Calibri"/>
              </a:rPr>
              <a:t> via </a:t>
            </a:r>
            <a:r>
              <a:rPr lang="en-US" sz="1800">
                <a:latin typeface="Calibri"/>
                <a:ea typeface="Calibri"/>
                <a:cs typeface="Calibri"/>
              </a:rPr>
              <a:t>Istio</a:t>
            </a:r>
          </a:p>
          <a:p>
            <a:pPr indent="-228600" marL="914400" lvl="1">
              <a:buChar char="•"/>
            </a:pPr>
            <a:r>
              <a:rPr lang="en-US" sz="1800">
                <a:latin typeface="Calibri"/>
                <a:ea typeface="Calibri"/>
                <a:cs typeface="Calibri"/>
              </a:rPr>
              <a:t>Database: </a:t>
            </a:r>
            <a:r>
              <a:rPr lang="en-US" sz="1800">
                <a:latin typeface="Calibri"/>
                <a:ea typeface="Calibri"/>
                <a:cs typeface="Calibri"/>
              </a:rPr>
              <a:t>PostgreSQL 14</a:t>
            </a:r>
            <a:r>
              <a:rPr lang="en-US" sz="1800">
                <a:latin typeface="Calibri"/>
                <a:ea typeface="Calibri"/>
                <a:cs typeface="Calibri"/>
              </a:rPr>
              <a:t> → </a:t>
            </a:r>
            <a:r>
              <a:rPr lang="en-US" sz="1800">
                <a:latin typeface="Calibri"/>
                <a:ea typeface="Calibri"/>
                <a:cs typeface="Calibri"/>
              </a:rPr>
              <a:t>PostgreSQL 16</a:t>
            </a:r>
            <a:r>
              <a:rPr lang="en-US" sz="1800">
                <a:latin typeface="Calibri"/>
                <a:ea typeface="Calibri"/>
                <a:cs typeface="Calibri"/>
              </a:rPr>
              <a:t> + </a:t>
            </a:r>
            <a:r>
              <a:rPr lang="en-US" sz="1800">
                <a:latin typeface="Calibri"/>
                <a:ea typeface="Calibri"/>
                <a:cs typeface="Calibri"/>
              </a:rPr>
              <a:t>pgvector</a:t>
            </a:r>
          </a:p>
          <a:p>
            <a:pPr indent="-228600" marL="457200" lvl="0">
              <a:buAutoNum type="arabicPeriod"/>
            </a:pPr>
            <a:r>
              <a:rPr lang="en-US" sz="1800">
                <a:latin typeface="Calibri"/>
                <a:ea typeface="Calibri"/>
                <a:cs typeface="Calibri"/>
              </a:rPr>
              <a:t>AI/ML Pipeline</a:t>
            </a:r>
          </a:p>
          <a:p>
            <a:pPr indent="-228600" marL="914400" lvl="1">
              <a:buChar char="•"/>
            </a:pPr>
            <a:r>
              <a:rPr lang="en-US" sz="1800">
                <a:latin typeface="Calibri"/>
                <a:ea typeface="Calibri"/>
                <a:cs typeface="Calibri"/>
              </a:rPr>
              <a:t>Real-time inference latency: </a:t>
            </a:r>
            <a:r>
              <a:rPr lang="en-US" sz="1800">
                <a:latin typeface="Calibri"/>
                <a:ea typeface="Calibri"/>
                <a:cs typeface="Calibri"/>
              </a:rPr>
              <a:t>120ms</a:t>
            </a:r>
            <a:r>
              <a:rPr lang="en-US" sz="1800">
                <a:latin typeface="Calibri"/>
                <a:ea typeface="Calibri"/>
                <a:cs typeface="Calibri"/>
              </a:rPr>
              <a:t> → </a:t>
            </a:r>
            <a:r>
              <a:rPr lang="en-US" sz="1800">
                <a:latin typeface="Calibri"/>
                <a:ea typeface="Calibri"/>
                <a:cs typeface="Calibri"/>
              </a:rPr>
              <a:t>34ms p95</a:t>
            </a:r>
          </a:p>
          <a:p>
            <a:pPr indent="-228600" marL="914400" lvl="1">
              <a:buChar char="•"/>
            </a:pPr>
            <a:r>
              <a:rPr lang="en-US" sz="1800">
                <a:latin typeface="Calibri"/>
                <a:ea typeface="Calibri"/>
                <a:cs typeface="Calibri"/>
              </a:rPr>
              <a:t>Model registry with </a:t>
            </a:r>
            <a:r>
              <a:rPr lang="en-US" sz="1800">
                <a:latin typeface="Calibri"/>
                <a:ea typeface="Calibri"/>
                <a:cs typeface="Calibri"/>
              </a:rPr>
              <a:t>MLflow</a:t>
            </a:r>
            <a:r>
              <a:rPr lang="en-US" sz="1800">
                <a:latin typeface="Calibri"/>
                <a:ea typeface="Calibri"/>
                <a:cs typeface="Calibri"/>
              </a:rPr>
              <a:t> + </a:t>
            </a:r>
            <a:r>
              <a:rPr lang="en-US" sz="1800">
                <a:latin typeface="Calibri"/>
                <a:ea typeface="Calibri"/>
                <a:cs typeface="Calibri"/>
              </a:rPr>
              <a:t>Weights &amp; Biases</a:t>
            </a:r>
          </a:p>
          <a:p>
            <a:pPr indent="-228600" marL="914400" lvl="1">
              <a:buChar char="•"/>
            </a:pPr>
            <a:r>
              <a:rPr lang="en-US" sz="1800">
                <a:latin typeface="Calibri"/>
                <a:ea typeface="Calibri"/>
                <a:cs typeface="Calibri"/>
              </a:rPr>
              <a:t>Fine-tuned </a:t>
            </a:r>
            <a:r>
              <a:rPr lang="en-US" sz="1800">
                <a:latin typeface="Calibri"/>
                <a:ea typeface="Calibri"/>
                <a:cs typeface="Calibri"/>
              </a:rPr>
              <a:t>Claude Sonnet</a:t>
            </a:r>
            <a:r>
              <a:rPr lang="en-US" sz="1800">
                <a:latin typeface="Calibri"/>
                <a:ea typeface="Calibri"/>
                <a:cs typeface="Calibri"/>
              </a:rPr>
              <a:t> for </a:t>
            </a:r>
            <a:r>
              <a:rPr lang="en-US" sz="1800">
                <a:latin typeface="Calibri"/>
                <a:ea typeface="Calibri"/>
                <a:cs typeface="Calibri"/>
              </a:rPr>
              <a:t>document extraction</a:t>
            </a:r>
          </a:p>
          <a:p>
            <a:pPr indent="-228600" marL="457200" lvl="0">
              <a:buAutoNum type="arabicPeriod"/>
            </a:pPr>
            <a:r>
              <a:rPr lang="en-US" sz="1800">
                <a:latin typeface="Calibri"/>
                <a:ea typeface="Calibri"/>
                <a:cs typeface="Calibri"/>
              </a:rPr>
              <a:t>Security &amp; Compliance</a:t>
            </a:r>
          </a:p>
          <a:p>
            <a:pPr indent="-228600" marL="914400" lvl="1">
              <a:buChar char="•"/>
            </a:pPr>
            <a:r>
              <a:rPr lang="en-US" sz="1800">
                <a:latin typeface="Calibri"/>
                <a:ea typeface="Calibri"/>
                <a:cs typeface="Calibri"/>
              </a:rPr>
              <a:t>SOC 2 Type II</a:t>
            </a:r>
            <a:r>
              <a:rPr lang="en-US" sz="1800">
                <a:latin typeface="Calibri"/>
                <a:ea typeface="Calibri"/>
                <a:cs typeface="Calibri"/>
              </a:rPr>
              <a:t> — certified Jan 2026</a:t>
            </a:r>
          </a:p>
          <a:p>
            <a:pPr indent="-228600" marL="914400" lvl="1">
              <a:buChar char="•"/>
            </a:pPr>
            <a:r>
              <a:rPr lang="en-US" sz="1800">
                <a:latin typeface="Calibri"/>
                <a:ea typeface="Calibri"/>
                <a:cs typeface="Calibri"/>
              </a:rPr>
              <a:t>HIPAA</a:t>
            </a:r>
            <a:r>
              <a:rPr lang="en-US" sz="1800">
                <a:latin typeface="Calibri"/>
                <a:ea typeface="Calibri"/>
                <a:cs typeface="Calibri"/>
              </a:rPr>
              <a:t> — in progress, ETA Q3</a:t>
            </a:r>
          </a:p>
          <a:p>
            <a:pPr indent="-228600" marL="914400" lvl="1">
              <a:buChar char="•"/>
            </a:pPr>
            <a:r>
              <a:rPr lang="en-US" sz="1800">
                <a:latin typeface="Calibri"/>
                <a:ea typeface="Calibri"/>
                <a:cs typeface="Calibri"/>
              </a:rPr>
              <a:t>FedRAMP</a:t>
            </a:r>
            <a:r>
              <a:rPr lang="en-US" sz="1800">
                <a:latin typeface="Calibri"/>
                <a:ea typeface="Calibri"/>
                <a:cs typeface="Calibri"/>
              </a:rPr>
              <a:t> — scoping phase</a:t>
            </a:r>
          </a:p>
        </p:txBody>
      </p:sp>
      <p:sp>
        <p:nvSpPr>
          <p:cNvPr id="4" name="Shape 4"/>
          <p:cNvSpPr txBox="1"/>
          <p:nvPr/>
        </p:nvSpPr>
        <p:spPr>
          <a:xfrm>
            <a:off x="635000" y="6096000"/>
            <a:ext cx="10922000" cy="546100"/>
          </a:xfrm>
          <a:prstGeom prst="rect">
            <a:avLst/>
          </a:prstGeom>
        </p:spPr>
        <p:txBody>
          <a:bodyPr wrap="square" rtlCol="0"/>
          <a:lstStyle/>
          <a:p>
            <a:pPr/>
            <a:r>
              <a:rPr lang="en-US" sz="1800">
                <a:latin typeface="Calibri"/>
                <a:ea typeface="Calibri"/>
                <a:cs typeface="Calibri"/>
              </a:rPr>
              <a:t>Architecture docs: </a:t>
            </a:r>
            <a:r>
              <a:rPr lang="en-US" sz="1800" u="sng">
                <a:solidFill>
                  <a:srgbClr val="0563C1"/>
                </a:solidFill>
                <a:latin typeface="Calibri"/>
                <a:ea typeface="Calibri"/>
                <a:cs typeface="Calibri"/>
                <a:hlinkClick r:id="rId2"/>
              </a:rPr>
              <a:t>docs.example.com/architecture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35000" y="635000"/>
            <a:ext cx="10922000" cy="889000"/>
          </a:xfrm>
          <a:prstGeom prst="rect">
            <a:avLst/>
          </a:prstGeom>
        </p:spPr>
        <p:txBody>
          <a:bodyPr wrap="square" rtlCol="0"/>
          <a:lstStyle/>
          <a:p>
            <a:pPr/>
            <a:r>
              <a:rPr lang="en-US" sz="3600" b="1">
                <a:solidFill>
                  <a:srgbClr val="1B4F72"/>
                </a:solidFill>
                <a:latin typeface="Calibri"/>
                <a:ea typeface="Calibri"/>
                <a:cs typeface="Calibri"/>
              </a:rPr>
              <a:t>Data &amp; Analytics Platform</a:t>
            </a:r>
          </a:p>
        </p:txBody>
      </p:sp>
      <p:sp>
        <p:nvSpPr>
          <p:cNvPr id="3" name="Shape 3"/>
          <p:cNvSpPr txBox="1"/>
          <p:nvPr/>
        </p:nvSpPr>
        <p:spPr>
          <a:xfrm>
            <a:off x="635000" y="1651000"/>
            <a:ext cx="10922000" cy="546100"/>
          </a:xfrm>
          <a:prstGeom prst="rect">
            <a:avLst/>
          </a:prstGeom>
        </p:spPr>
        <p:txBody>
          <a:bodyPr wrap="square" rtlCol="0"/>
          <a:lstStyle/>
          <a:p>
            <a:pPr/>
            <a:r>
              <a:rPr lang="en-US" sz="1800">
                <a:latin typeface="Calibri"/>
                <a:ea typeface="Calibri"/>
                <a:cs typeface="Calibri"/>
              </a:rPr>
              <a:t>
          Processing </a:t>
            </a:r>
            <a:r>
              <a:rPr lang="en-US" sz="1800" b="1">
                <a:solidFill>
                  <a:srgbClr val="2E86C1"/>
                </a:solidFill>
                <a:latin typeface="Calibri"/>
                <a:ea typeface="Calibri"/>
                <a:cs typeface="Calibri"/>
              </a:rPr>
              <a:t>2.4 PB</a:t>
            </a:r>
            <a:r>
              <a:rPr lang="en-US" sz="1800">
                <a:latin typeface="Calibri"/>
                <a:ea typeface="Calibri"/>
                <a:cs typeface="Calibri"/>
              </a:rPr>
              <a:t>/day
          across </a:t>
            </a:r>
            <a:r>
              <a:rPr lang="en-US" sz="1800" b="1">
                <a:latin typeface="Calibri"/>
                <a:ea typeface="Calibri"/>
                <a:cs typeface="Calibri"/>
              </a:rPr>
              <a:t>18 data centers</a:t>
            </a:r>
            <a:r>
              <a:rPr lang="en-US" sz="1800">
                <a:latin typeface="Calibri"/>
                <a:ea typeface="Calibri"/>
                <a:cs typeface="Calibri"/>
              </a:rPr>
              <a:t>.
          Query p99 latency: </a:t>
            </a:r>
            <a:r>
              <a:rPr lang="en-US" sz="1800" b="1">
                <a:solidFill>
                  <a:srgbClr val="27AE60"/>
                </a:solidFill>
                <a:latin typeface="Calibri"/>
                <a:ea typeface="Calibri"/>
                <a:cs typeface="Calibri"/>
              </a:rPr>
              <a:t>47ms</a:t>
            </a:r>
            <a:r>
              <a:rPr lang="en-US" sz="1800">
                <a:latin typeface="Calibri"/>
                <a:ea typeface="Calibri"/>
                <a:cs typeface="Calibri"/>
              </a:rPr>
              <a:t>.
        </a:t>
            </a:r>
          </a:p>
        </p:txBody>
      </p:sp>
      <p:sp>
        <p:nvSpPr>
          <p:cNvPr id="4" name="Shape 4"/>
          <p:cNvSpPr txBox="1"/>
          <p:nvPr/>
        </p:nvSpPr>
        <p:spPr>
          <a:xfrm>
            <a:off x="635000" y="2324100"/>
            <a:ext cx="10922000" cy="546100"/>
          </a:xfrm>
          <a:prstGeom prst="rect">
            <a:avLst/>
          </a:prstGeom>
        </p:spPr>
        <p:txBody>
          <a:bodyPr wrap="square" rtlCol="0"/>
          <a:lstStyle/>
          <a:p>
            <a:pPr/>
            <a:r>
              <a:rPr lang="en-US" sz="1400">
                <a:latin typeface="Courier New"/>
                <a:ea typeface="Courier New"/>
                <a:cs typeface="Courier New"/>
              </a:rPr>
              <a:t>-- Top revenue contributors (last 30 days)
SELECT
    customer_segment,
    SUM(revenue) AS total_revenue,
    COUNT(DISTINCT customer_id) AS unique_customers,
    AVG(deal_size) AS avg_deal
FROM analytics.revenue_fact
WHERE event_date &gt;= CURRENT_DATE - INTERVAL '30 days'
GROUP BY customer_segment
ORDER BY total_revenue DESC
LIMIT 10;</a:t>
            </a:r>
          </a:p>
        </p:txBody>
      </p:sp>
      <p:sp>
        <p:nvSpPr>
          <p:cNvPr id="5" name="Shape 5"/>
          <p:cNvSpPr txBox="1"/>
          <p:nvPr/>
        </p:nvSpPr>
        <p:spPr>
          <a:xfrm>
            <a:off x="635000" y="2997200"/>
            <a:ext cx="10922000" cy="546100"/>
          </a:xfrm>
          <a:prstGeom prst="rect">
            <a:avLst/>
          </a:prstGeom>
        </p:spPr>
        <p:txBody>
          <a:bodyPr wrap="square" rtlCol="0"/>
          <a:lstStyle/>
          <a:p>
            <a:pPr/>
            <a:r>
              <a:rPr lang="en-US" sz="1800">
                <a:latin typeface="Calibri"/>
                <a:ea typeface="Calibri"/>
                <a:cs typeface="Calibri"/>
              </a:rPr>
              <a:t>
          Formula: Revenue Growth = (R</a:t>
            </a:r>
            <a:r>
              <a:rPr lang="en-US" sz="1800">
                <a:latin typeface="Calibri"/>
                <a:ea typeface="Calibri"/>
                <a:cs typeface="Calibri"/>
              </a:rPr>
              <a:t>t</a:t>
            </a:r>
            <a:r>
              <a:rPr lang="en-US" sz="1800">
                <a:latin typeface="Calibri"/>
                <a:ea typeface="Calibri"/>
                <a:cs typeface="Calibri"/>
              </a:rPr>
              <a:t> - R</a:t>
            </a:r>
            <a:r>
              <a:rPr lang="en-US" sz="1800">
                <a:latin typeface="Calibri"/>
                <a:ea typeface="Calibri"/>
                <a:cs typeface="Calibri"/>
              </a:rPr>
              <a:t>t-1</a:t>
            </a:r>
            <a:r>
              <a:rPr lang="en-US" sz="1800">
                <a:latin typeface="Calibri"/>
                <a:ea typeface="Calibri"/>
                <a:cs typeface="Calibri"/>
              </a:rPr>
              <a:t>) / R</a:t>
            </a:r>
            <a:r>
              <a:rPr lang="en-US" sz="1800">
                <a:latin typeface="Calibri"/>
                <a:ea typeface="Calibri"/>
                <a:cs typeface="Calibri"/>
              </a:rPr>
              <a:t>t-1</a:t>
            </a:r>
            <a:r>
              <a:rPr lang="en-US" sz="1800">
                <a:latin typeface="Calibri"/>
                <a:ea typeface="Calibri"/>
                <a:cs typeface="Calibri"/>
              </a:rPr>
              <a:t> × 10</a:t>
            </a:r>
            <a:r>
              <a:rPr lang="en-US" sz="1800">
                <a:latin typeface="Calibri"/>
                <a:ea typeface="Calibri"/>
                <a:cs typeface="Calibri"/>
              </a:rPr>
              <a:t>2</a:t>
            </a:r>
            <a:r>
              <a:rPr lang="en-US" sz="1800">
                <a:latin typeface="Calibri"/>
                <a:ea typeface="Calibri"/>
                <a:cs typeface="Calibri"/>
              </a:rPr>
              <a:t>%
        </a:t>
            </a:r>
          </a:p>
        </p:txBody>
      </p:sp>
      <p:sp>
        <p:nvSpPr>
          <p:cNvPr id="6" name="Shape 6"/>
          <p:cNvSpPr txBox="1"/>
          <p:nvPr/>
        </p:nvSpPr>
        <p:spPr>
          <a:xfrm>
            <a:off x="635000" y="3670300"/>
            <a:ext cx="10922000" cy="546100"/>
          </a:xfrm>
          <a:prstGeom prst="rect">
            <a:avLst/>
          </a:prstGeom>
        </p:spPr>
        <p:txBody>
          <a:bodyPr wrap="square" rtlCol="0"/>
          <a:lstStyle/>
          <a:p>
            <a:pPr/>
            <a:r>
              <a:rPr lang="en-US" sz="1800">
                <a:latin typeface="Calibri"/>
                <a:ea typeface="Calibri"/>
                <a:cs typeface="Calibri"/>
              </a:rPr>
              <a:t>
          </a:t>
            </a:r>
            <a:r>
              <a:rPr lang="en-US" sz="900">
                <a:solidFill>
                  <a:srgbClr val="7F8C8D"/>
                </a:solidFill>
                <a:latin typeface="Calibri"/>
                <a:ea typeface="Calibri"/>
                <a:cs typeface="Calibri"/>
              </a:rPr>
              <a:t>
            Data pipeline built with
            </a:t>
            </a:r>
            <a:r>
              <a:rPr lang="en-US" sz="900" b="1">
                <a:solidFill>
                  <a:srgbClr val="7F8C8D"/>
                </a:solidFill>
                <a:latin typeface="Calibri"/>
                <a:ea typeface="Calibri"/>
                <a:cs typeface="Calibri"/>
              </a:rPr>
              <a:t>Apache Spark</a:t>
            </a:r>
            <a:r>
              <a:rPr lang="en-US" sz="900">
                <a:solidFill>
                  <a:srgbClr val="7F8C8D"/>
                </a:solidFill>
                <a:latin typeface="Calibri"/>
                <a:ea typeface="Calibri"/>
                <a:cs typeface="Calibri"/>
              </a:rPr>
              <a:t>,
            </a:t>
            </a:r>
            <a:r>
              <a:rPr lang="en-US" sz="900" b="1">
                <a:solidFill>
                  <a:srgbClr val="7F8C8D"/>
                </a:solidFill>
                <a:latin typeface="Calibri"/>
                <a:ea typeface="Calibri"/>
                <a:cs typeface="Calibri"/>
              </a:rPr>
              <a:t>dbt</a:t>
            </a:r>
            <a:r>
              <a:rPr lang="en-US" sz="900">
                <a:solidFill>
                  <a:srgbClr val="7F8C8D"/>
                </a:solidFill>
                <a:latin typeface="Calibri"/>
                <a:ea typeface="Calibri"/>
                <a:cs typeface="Calibri"/>
              </a:rPr>
              <a:t>,
            </a:t>
            </a:r>
            <a:r>
              <a:rPr lang="en-US" sz="900" b="1">
                <a:solidFill>
                  <a:srgbClr val="7F8C8D"/>
                </a:solidFill>
                <a:latin typeface="Calibri"/>
                <a:ea typeface="Calibri"/>
                <a:cs typeface="Calibri"/>
              </a:rPr>
              <a:t>Snowflake</a:t>
            </a:r>
            <a:r>
              <a:rPr lang="en-US" sz="900">
                <a:solidFill>
                  <a:srgbClr val="7F8C8D"/>
                </a:solidFill>
                <a:latin typeface="Calibri"/>
                <a:ea typeface="Calibri"/>
                <a:cs typeface="Calibri"/>
              </a:rPr>
              <a:t>, and
            </a:t>
            </a:r>
            <a:r>
              <a:rPr lang="en-US" sz="900" b="1">
                <a:solidFill>
                  <a:srgbClr val="7F8C8D"/>
                </a:solidFill>
                <a:latin typeface="Calibri"/>
                <a:ea typeface="Calibri"/>
                <a:cs typeface="Calibri"/>
              </a:rPr>
              <a:t>Dagster</a:t>
            </a:r>
            <a:r>
              <a:rPr lang="en-US" sz="900">
                <a:solidFill>
                  <a:srgbClr val="7F8C8D"/>
                </a:solidFill>
                <a:latin typeface="Calibri"/>
                <a:ea typeface="Calibri"/>
                <a:cs typeface="Calibri"/>
              </a:rPr>
              <a:t>.
            See </a:t>
            </a:r>
            <a:r>
              <a:rPr lang="en-US" sz="900" u="sng">
                <a:solidFill>
                  <a:srgbClr val="0563C1"/>
                </a:solidFill>
                <a:latin typeface="Calibri"/>
                <a:ea typeface="Calibri"/>
                <a:cs typeface="Calibri"/>
                <a:hlinkClick r:id="rId2"/>
              </a:rPr>
              <a:t>lineage dashboard</a:t>
            </a:r>
            <a:r>
              <a:rPr lang="en-US" sz="900">
                <a:solidFill>
                  <a:srgbClr val="7F8C8D"/>
                </a:solidFill>
                <a:latin typeface="Calibri"/>
                <a:ea typeface="Calibri"/>
                <a:cs typeface="Calibri"/>
              </a:rPr>
              <a:t>.
          </a:t>
            </a:r>
            <a:r>
              <a:rPr lang="en-US" sz="1800">
                <a:latin typeface="Calibri"/>
                <a:ea typeface="Calibri"/>
                <a:cs typeface="Calibri"/>
              </a:rPr>
              <a:t>
       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35000" y="635000"/>
            <a:ext cx="10922000" cy="889000"/>
          </a:xfrm>
          <a:prstGeom prst="rect">
            <a:avLst/>
          </a:prstGeom>
        </p:spPr>
        <p:txBody>
          <a:bodyPr wrap="square" rtlCol="0"/>
          <a:lstStyle/>
          <a:p>
            <a:pPr/>
            <a:r>
              <a:rPr lang="en-US" sz="3600" b="1">
                <a:solidFill>
                  <a:srgbClr val="7D3C98"/>
                </a:solidFill>
                <a:latin typeface="Calibri"/>
                <a:ea typeface="Calibri"/>
                <a:cs typeface="Calibri"/>
              </a:rPr>
              <a:t>OKR Scorecard — Q4 2025</a:t>
            </a:r>
          </a:p>
        </p:txBody>
      </p:sp>
      <p:graphicFrame>
        <p:nvGraphicFramePr>
          <p:cNvPr id="3" name="Table 3"/>
          <p:cNvGraphicFramePr>
            <a:graphicFrameLocks noGrp="1"/>
          </p:cNvGraphicFramePr>
          <p:nvPr/>
        </p:nvGraphicFramePr>
        <p:xfrm>
          <a:off x="635000" y="1651000"/>
          <a:ext cx="10160000" cy="220980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2032000"/>
                <a:gridCol w="2032000"/>
                <a:gridCol w="2032000"/>
                <a:gridCol w="2032000"/>
                <a:gridCol w="2032000"/>
              </a:tblGrid>
              <a:tr h="368300">
                <a:tc>
                  <a:txBody>
                    <a:bodyPr wrap="square" rtlCol="0"/>
                    <a:lstStyle/>
                    <a:p>
                      <a:pPr/>
                      <a:r>
                        <a:rPr lang="en-US" sz="1800" b="1">
                          <a:latin typeface="Calibri"/>
                          <a:ea typeface="Calibri"/>
                          <a:cs typeface="Calibri"/>
                        </a:rPr>
                        <a:t>Objective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1800" b="1">
                          <a:latin typeface="Calibri"/>
                          <a:ea typeface="Calibri"/>
                          <a:cs typeface="Calibri"/>
                        </a:rPr>
                        <a:t>Key Result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1800" b="1">
                          <a:latin typeface="Calibri"/>
                          <a:ea typeface="Calibri"/>
                          <a:cs typeface="Calibri"/>
                        </a:rPr>
                        <a:t>Target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1800" b="1">
                          <a:latin typeface="Calibri"/>
                          <a:ea typeface="Calibri"/>
                          <a:cs typeface="Calibri"/>
                        </a:rPr>
                        <a:t>Actual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1800" b="1">
                          <a:latin typeface="Calibri"/>
                          <a:ea typeface="Calibri"/>
                          <a:cs typeface="Calibri"/>
                        </a:rPr>
                        <a:t>Grade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</a:tr>
              <a:tr h="368300">
                <a:tc>
                  <a:txBody>
                    <a:bodyPr wrap="square" rtlCol="0"/>
                    <a:lstStyle/>
                    <a:p>
                      <a:pPr/>
                      <a:r>
                        <a:rPr lang="en-US" sz="1800" b="1">
                          <a:latin typeface="Calibri"/>
                          <a:ea typeface="Calibri"/>
                          <a:cs typeface="Calibri"/>
                        </a:rPr>
                        <a:t>Grow Revenue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1800">
                          <a:latin typeface="Calibri"/>
                          <a:ea typeface="Calibri"/>
                          <a:cs typeface="Calibri"/>
                        </a:rPr>
                        <a:t>ARR growth rate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1800">
                          <a:latin typeface="Calibri"/>
                          <a:ea typeface="Calibri"/>
                          <a:cs typeface="Calibri"/>
                        </a:rPr>
                        <a:t>25%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1800">
                          <a:latin typeface="Calibri"/>
                          <a:ea typeface="Calibri"/>
                          <a:cs typeface="Calibri"/>
                        </a:rPr>
                        <a:t>28.3%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1800">
                          <a:latin typeface="Calibri"/>
                          <a:ea typeface="Calibri"/>
                          <a:cs typeface="Calibri"/>
                        </a:rPr>
                        <a:t>1.0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</a:tr>
              <a:tr h="368300">
                <a:tc>
                  <a:txBody>
                    <a:bodyPr wrap="square" rtlCol="0"/>
                    <a:lstStyle/>
                    <a:p>
                      <a:pPr/>
                      <a:r>
                        <a:rPr lang="en-US" sz="1800" b="1">
                          <a:latin typeface="Calibri"/>
                          <a:ea typeface="Calibri"/>
                          <a:cs typeface="Calibri"/>
                        </a:rPr>
                        <a:t>Expand Market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1800">
                          <a:latin typeface="Calibri"/>
                          <a:ea typeface="Calibri"/>
                          <a:cs typeface="Calibri"/>
                        </a:rPr>
                        <a:t>New geo launches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1800"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1800"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1800">
                          <a:latin typeface="Calibri"/>
                          <a:ea typeface="Calibri"/>
                          <a:cs typeface="Calibri"/>
                        </a:rPr>
                        <a:t>1.0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</a:tr>
              <a:tr h="368300">
                <a:tc>
                  <a:txBody>
                    <a:bodyPr wrap="square" rtlCol="0"/>
                    <a:lstStyle/>
                    <a:p>
                      <a:pPr/>
                      <a:r>
                        <a:rPr lang="en-US" sz="1800" b="1">
                          <a:latin typeface="Calibri"/>
                          <a:ea typeface="Calibri"/>
                          <a:cs typeface="Calibri"/>
                        </a:rPr>
                        <a:t>Product NPS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1800">
                          <a:latin typeface="Calibri"/>
                          <a:ea typeface="Calibri"/>
                          <a:cs typeface="Calibri"/>
                        </a:rPr>
                        <a:t>Customer NPS score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1800">
                          <a:latin typeface="Calibri"/>
                          <a:ea typeface="Calibri"/>
                          <a:cs typeface="Calibri"/>
                        </a:rPr>
                        <a:t>65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1800">
                          <a:latin typeface="Calibri"/>
                          <a:ea typeface="Calibri"/>
                          <a:cs typeface="Calibri"/>
                        </a:rPr>
                        <a:t>58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1800">
                          <a:latin typeface="Calibri"/>
                          <a:ea typeface="Calibri"/>
                          <a:cs typeface="Calibri"/>
                        </a:rPr>
                        <a:t>0.7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</a:tr>
              <a:tr h="368300">
                <a:tc>
                  <a:txBody>
                    <a:bodyPr wrap="square" rtlCol="0"/>
                    <a:lstStyle/>
                    <a:p>
                      <a:pPr/>
                      <a:r>
                        <a:rPr lang="en-US" sz="1800" b="1">
                          <a:latin typeface="Calibri"/>
                          <a:ea typeface="Calibri"/>
                          <a:cs typeface="Calibri"/>
                        </a:rPr>
                        <a:t>Platform Uptime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1800">
                          <a:latin typeface="Calibri"/>
                          <a:ea typeface="Calibri"/>
                          <a:cs typeface="Calibri"/>
                        </a:rPr>
                        <a:t>Availability SLA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1800">
                          <a:latin typeface="Calibri"/>
                          <a:ea typeface="Calibri"/>
                          <a:cs typeface="Calibri"/>
                        </a:rPr>
                        <a:t>99.95%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1800">
                          <a:latin typeface="Calibri"/>
                          <a:ea typeface="Calibri"/>
                          <a:cs typeface="Calibri"/>
                        </a:rPr>
                        <a:t>99.98%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1800">
                          <a:latin typeface="Calibri"/>
                          <a:ea typeface="Calibri"/>
                          <a:cs typeface="Calibri"/>
                        </a:rPr>
                        <a:t>1.0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</a:tr>
              <a:tr h="368300">
                <a:tc>
                  <a:txBody>
                    <a:bodyPr wrap="square" rtlCol="0"/>
                    <a:lstStyle/>
                    <a:p>
                      <a:pPr/>
                      <a:r>
                        <a:rPr lang="en-US" sz="1800" b="1">
                          <a:latin typeface="Calibri"/>
                          <a:ea typeface="Calibri"/>
                          <a:cs typeface="Calibri"/>
                        </a:rPr>
                        <a:t>Hiring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1800">
                          <a:latin typeface="Calibri"/>
                          <a:ea typeface="Calibri"/>
                          <a:cs typeface="Calibri"/>
                        </a:rPr>
                        <a:t>Engineering headcount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1800">
                          <a:latin typeface="Calibri"/>
                          <a:ea typeface="Calibri"/>
                          <a:cs typeface="Calibri"/>
                        </a:rPr>
                        <a:t>80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1800">
                          <a:latin typeface="Calibri"/>
                          <a:ea typeface="Calibri"/>
                          <a:cs typeface="Calibri"/>
                        </a:rPr>
                        <a:t>72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1800">
                          <a:latin typeface="Calibri"/>
                          <a:ea typeface="Calibri"/>
                          <a:cs typeface="Calibri"/>
                        </a:rPr>
                        <a:t>0.4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Shape 4"/>
          <p:cNvSpPr txBox="1"/>
          <p:nvPr/>
        </p:nvSpPr>
        <p:spPr>
          <a:xfrm>
            <a:off x="635000" y="3987800"/>
            <a:ext cx="10922000" cy="546100"/>
          </a:xfrm>
          <a:prstGeom prst="rect">
            <a:avLst/>
          </a:prstGeom>
        </p:spPr>
        <p:txBody>
          <a:bodyPr wrap="square" rtlCol="0"/>
          <a:lstStyle/>
          <a:p>
            <a:pPr algn="ctr"/>
            <a:r>
              <a:rPr lang="en-US" sz="1800">
                <a:latin typeface="Calibri"/>
                <a:ea typeface="Calibri"/>
                <a:cs typeface="Calibri"/>
              </a:rPr>
              <a:t>
          </a:t>
            </a:r>
            <a:r>
              <a:rPr lang="en-US" sz="1800" b="1">
                <a:latin typeface="Calibri"/>
                <a:ea typeface="Calibri"/>
                <a:cs typeface="Calibri"/>
              </a:rPr>
              <a:t>Overall Score: </a:t>
            </a:r>
            <a:r>
              <a:rPr lang="en-US" sz="1800">
                <a:latin typeface="Calibri"/>
                <a:ea typeface="Calibri"/>
                <a:cs typeface="Calibri"/>
              </a:rPr>
              <a:t>
          </a:t>
            </a:r>
            <a:r>
              <a:rPr lang="en-US" sz="1800" b="1">
                <a:solidFill>
                  <a:srgbClr val="27AE60"/>
                </a:solidFill>
                <a:latin typeface="Calibri"/>
                <a:ea typeface="Calibri"/>
                <a:cs typeface="Calibri"/>
              </a:rPr>
              <a:t>0.82</a:t>
            </a:r>
            <a:r>
              <a:rPr lang="en-US" sz="1800">
                <a:latin typeface="Calibri"/>
                <a:ea typeface="Calibri"/>
                <a:cs typeface="Calibri"/>
              </a:rPr>
              <a:t>
          </a:t>
            </a:r>
            <a:r>
              <a:rPr lang="en-US" sz="1800">
                <a:solidFill>
                  <a:srgbClr val="95A5A6"/>
                </a:solidFill>
                <a:latin typeface="Calibri"/>
                <a:ea typeface="Calibri"/>
                <a:cs typeface="Calibri"/>
              </a:rPr>
              <a:t> / 1.0</a:t>
            </a:r>
            <a:r>
              <a:rPr lang="en-US" sz="1800">
                <a:latin typeface="Calibri"/>
                <a:ea typeface="Calibri"/>
                <a:cs typeface="Calibri"/>
              </a:rPr>
              <a:t>
       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35000" y="635000"/>
            <a:ext cx="10922000" cy="889000"/>
          </a:xfrm>
          <a:prstGeom prst="rect">
            <a:avLst/>
          </a:prstGeom>
        </p:spPr>
        <p:txBody>
          <a:bodyPr wrap="square" rtlCol="0"/>
          <a:lstStyle/>
          <a:p>
            <a:pPr/>
            <a:r>
              <a:rPr lang="en-US" sz="3600" b="1">
                <a:solidFill>
                  <a:srgbClr val="D35400"/>
                </a:solidFill>
                <a:latin typeface="Calibri"/>
                <a:ea typeface="Calibri"/>
                <a:cs typeface="Calibri"/>
              </a:rPr>
              <a:t>Competitive Landscape</a:t>
            </a:r>
          </a:p>
        </p:txBody>
      </p:sp>
      <p:sp>
        <p:nvSpPr>
          <p:cNvPr id="3" name="Shape 3"/>
          <p:cNvSpPr txBox="1"/>
          <p:nvPr/>
        </p:nvSpPr>
        <p:spPr>
          <a:xfrm>
            <a:off x="635000" y="1651000"/>
            <a:ext cx="10922000" cy="546100"/>
          </a:xfrm>
          <a:prstGeom prst="rect">
            <a:avLst/>
          </a:prstGeom>
        </p:spPr>
        <p:txBody>
          <a:bodyPr wrap="square" rtlCol="0"/>
          <a:lstStyle/>
          <a:p>
            <a:pPr/>
            <a:r>
              <a:rPr lang="en-US" sz="1800">
                <a:latin typeface="Calibri"/>
                <a:ea typeface="Calibri"/>
                <a:cs typeface="Calibri"/>
              </a:rPr>
              <a:t>
          </a:t>
            </a:r>
            <a:r>
              <a:rPr lang="en-US" sz="1500" b="1">
                <a:solidFill>
                  <a:srgbClr val="2C3E50"/>
                </a:solidFill>
                <a:latin typeface="Calibri"/>
                <a:ea typeface="Calibri"/>
                <a:cs typeface="Calibri"/>
              </a:rPr>
              <a:t>Market Position:</a:t>
            </a:r>
            <a:r>
              <a:rPr lang="en-US" sz="1800">
                <a:latin typeface="Calibri"/>
                <a:ea typeface="Calibri"/>
                <a:cs typeface="Calibri"/>
              </a:rPr>
              <a:t>
          </a:t>
            </a:r>
            <a:r>
              <a:rPr lang="en-US" sz="1800" b="1">
                <a:solidFill>
                  <a:srgbClr val="FFFFFF"/>
                </a:solidFill>
                <a:highlight>
                  <a:srgbClr val="2ECC71"/>
                </a:highlight>
                <a:latin typeface="Calibri"/>
                <a:ea typeface="Calibri"/>
                <a:cs typeface="Calibri"/>
              </a:rPr>
              <a:t> #2 </a:t>
            </a:r>
            <a:r>
              <a:rPr lang="en-US" sz="1800">
                <a:latin typeface="Calibri"/>
                <a:ea typeface="Calibri"/>
                <a:cs typeface="Calibri"/>
              </a:rPr>
              <a:t>
          in enterprise segment,
          </a:t>
            </a:r>
            <a:r>
              <a:rPr lang="en-US" sz="1800" b="1">
                <a:solidFill>
                  <a:srgbClr val="FFFFFF"/>
                </a:solidFill>
                <a:highlight>
                  <a:srgbClr val="3498DB"/>
                </a:highlight>
                <a:latin typeface="Calibri"/>
                <a:ea typeface="Calibri"/>
                <a:cs typeface="Calibri"/>
              </a:rPr>
              <a:t> #1 </a:t>
            </a:r>
            <a:r>
              <a:rPr lang="en-US" sz="1800">
                <a:latin typeface="Calibri"/>
                <a:ea typeface="Calibri"/>
                <a:cs typeface="Calibri"/>
              </a:rPr>
              <a:t>
          in mid-market.
        </a:t>
            </a:r>
          </a:p>
        </p:txBody>
      </p: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635000" y="2324100"/>
          <a:ext cx="10160000" cy="184150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2540000"/>
                <a:gridCol w="2540000"/>
                <a:gridCol w="2540000"/>
                <a:gridCol w="2540000"/>
              </a:tblGrid>
              <a:tr h="368300">
                <a:tc>
                  <a:txBody>
                    <a:bodyPr wrap="square" rtlCol="0"/>
                    <a:lstStyle/>
                    <a:p>
                      <a:pPr/>
                      <a:r>
                        <a:rPr lang="en-US" sz="1800" b="1">
                          <a:latin typeface="Calibri"/>
                          <a:ea typeface="Calibri"/>
                          <a:cs typeface="Calibri"/>
                        </a:rPr>
                        <a:t>Competitor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1800" b="1">
                          <a:latin typeface="Calibri"/>
                          <a:ea typeface="Calibri"/>
                          <a:cs typeface="Calibri"/>
                        </a:rPr>
                        <a:t>Market Share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1800" b="1">
                          <a:latin typeface="Calibri"/>
                          <a:ea typeface="Calibri"/>
                          <a:cs typeface="Calibri"/>
                        </a:rPr>
                        <a:t>Trend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1800" b="1">
                          <a:latin typeface="Calibri"/>
                          <a:ea typeface="Calibri"/>
                          <a:cs typeface="Calibri"/>
                        </a:rPr>
                        <a:t>Threat Level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</a:tr>
              <a:tr h="368300">
                <a:tc>
                  <a:txBody>
                    <a:bodyPr wrap="square" rtlCol="0"/>
                    <a:lstStyle/>
                    <a:p>
                      <a:pPr/>
                      <a:r>
                        <a:rPr lang="en-US" sz="1800" b="1">
                          <a:latin typeface="Calibri"/>
                          <a:ea typeface="Calibri"/>
                          <a:cs typeface="Calibri"/>
                        </a:rPr>
                        <a:t>Acme Corp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1800">
                          <a:latin typeface="Calibri"/>
                          <a:ea typeface="Calibri"/>
                          <a:cs typeface="Calibri"/>
                        </a:rPr>
                        <a:t>31.2%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1800">
                          <a:latin typeface="Calibri"/>
                          <a:ea typeface="Calibri"/>
                          <a:cs typeface="Calibri"/>
                        </a:rPr>
                        <a:t>Declining (-2.1pp)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1800" b="1">
                          <a:solidFill>
                            <a:srgbClr val="D4AC0D"/>
                          </a:solidFill>
                          <a:highlight>
                            <a:srgbClr val="FEF9E7"/>
                          </a:highlight>
                          <a:latin typeface="Calibri"/>
                          <a:ea typeface="Calibri"/>
                          <a:cs typeface="Calibri"/>
                        </a:rPr>
                        <a:t>Medium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</a:tr>
              <a:tr h="368300">
                <a:tc>
                  <a:txBody>
                    <a:bodyPr wrap="square" rtlCol="0"/>
                    <a:lstStyle/>
                    <a:p>
                      <a:pPr/>
                      <a:r>
                        <a:rPr lang="en-US" sz="1800" b="1">
                          <a:latin typeface="Calibri"/>
                          <a:ea typeface="Calibri"/>
                          <a:cs typeface="Calibri"/>
                        </a:rPr>
                        <a:t>Us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1800">
                          <a:latin typeface="Calibri"/>
                          <a:ea typeface="Calibri"/>
                          <a:cs typeface="Calibri"/>
                        </a:rPr>
                        <a:t>24.8%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1800">
                          <a:latin typeface="Calibri"/>
                          <a:ea typeface="Calibri"/>
                          <a:cs typeface="Calibri"/>
                        </a:rPr>
                        <a:t>Growing (+4.3pp)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1800">
                          <a:latin typeface="Calibri"/>
                          <a:ea typeface="Calibri"/>
                          <a:cs typeface="Calibri"/>
                        </a:rPr>
                        <a:t>—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</a:tr>
              <a:tr h="368300">
                <a:tc>
                  <a:txBody>
                    <a:bodyPr wrap="square" rtlCol="0"/>
                    <a:lstStyle/>
                    <a:p>
                      <a:pPr/>
                      <a:r>
                        <a:rPr lang="en-US" sz="1800" b="1">
                          <a:latin typeface="Calibri"/>
                          <a:ea typeface="Calibri"/>
                          <a:cs typeface="Calibri"/>
                        </a:rPr>
                        <a:t>NovaTech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1800">
                          <a:latin typeface="Calibri"/>
                          <a:ea typeface="Calibri"/>
                          <a:cs typeface="Calibri"/>
                        </a:rPr>
                        <a:t>18.1%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1800">
                          <a:latin typeface="Calibri"/>
                          <a:ea typeface="Calibri"/>
                          <a:cs typeface="Calibri"/>
                        </a:rPr>
                        <a:t>Growing (+1.8pp)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1800" b="1">
                          <a:solidFill>
                            <a:srgbClr val="C0392B"/>
                          </a:solidFill>
                          <a:highlight>
                            <a:srgbClr val="FADBD8"/>
                          </a:highlight>
                          <a:latin typeface="Calibri"/>
                          <a:ea typeface="Calibri"/>
                          <a:cs typeface="Calibri"/>
                        </a:rPr>
                        <a:t>High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</a:tr>
              <a:tr h="368300">
                <a:tc>
                  <a:txBody>
                    <a:bodyPr wrap="square" rtlCol="0"/>
                    <a:lstStyle/>
                    <a:p>
                      <a:pPr/>
                      <a:r>
                        <a:rPr lang="en-US" sz="1800" b="1">
                          <a:latin typeface="Calibri"/>
                          <a:ea typeface="Calibri"/>
                          <a:cs typeface="Calibri"/>
                        </a:rPr>
                        <a:t>Others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1800">
                          <a:latin typeface="Calibri"/>
                          <a:ea typeface="Calibri"/>
                          <a:cs typeface="Calibri"/>
                        </a:rPr>
                        <a:t>25.9%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1800">
                          <a:latin typeface="Calibri"/>
                          <a:ea typeface="Calibri"/>
                          <a:cs typeface="Calibri"/>
                        </a:rPr>
                        <a:t>Flat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1800" b="1">
                          <a:solidFill>
                            <a:srgbClr val="1E8449"/>
                          </a:solidFill>
                          <a:highlight>
                            <a:srgbClr val="D5F5E3"/>
                          </a:highlight>
                          <a:latin typeface="Calibri"/>
                          <a:ea typeface="Calibri"/>
                          <a:cs typeface="Calibri"/>
                        </a:rPr>
                        <a:t>Low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5" name="Shape 5"/>
          <p:cNvSpPr txBox="1"/>
          <p:nvPr/>
        </p:nvSpPr>
        <p:spPr>
          <a:xfrm>
            <a:off x="635000" y="4292600"/>
            <a:ext cx="10922000" cy="546100"/>
          </a:xfrm>
          <a:prstGeom prst="rect">
            <a:avLst/>
          </a:prstGeom>
        </p:spPr>
        <p:txBody>
          <a:bodyPr wrap="square" rtlCol="0"/>
          <a:lstStyle/>
          <a:p>
            <a:pPr/>
            <a:r>
              <a:rPr lang="en-US" sz="1800">
                <a:latin typeface="Calibri"/>
                <a:ea typeface="Calibri"/>
                <a:cs typeface="Calibri"/>
              </a:rPr>
              <a:t>
          </a:t>
            </a:r>
            <a:r>
              <a:rPr lang="en-US" sz="1050">
                <a:solidFill>
                  <a:srgbClr val="7F8C8D"/>
                </a:solidFill>
                <a:latin typeface="Calibri"/>
                <a:ea typeface="Calibri"/>
                <a:cs typeface="Calibri"/>
              </a:rPr>
              <a:t>
            </a:t>
            </a:r>
            <a:r>
              <a:rPr lang="en-US" sz="1050" i="1">
                <a:solidFill>
                  <a:srgbClr val="7F8C8D"/>
                </a:solidFill>
                <a:latin typeface="Calibri"/>
                <a:ea typeface="Calibri"/>
                <a:cs typeface="Calibri"/>
              </a:rPr>
              <a:t>Source: </a:t>
            </a:r>
            <a:r>
              <a:rPr lang="en-US" sz="1050" i="1" u="sng">
                <a:solidFill>
                  <a:srgbClr val="0563C1"/>
                </a:solidFill>
                <a:latin typeface="Calibri"/>
                <a:ea typeface="Calibri"/>
                <a:cs typeface="Calibri"/>
                <a:hlinkClick r:id="rId2"/>
              </a:rPr>
              <a:t>Gartner Magic Quadrant 2025</a:t>
            </a:r>
            <a:r>
              <a:rPr lang="en-US" sz="1050" i="1">
                <a:solidFill>
                  <a:srgbClr val="7F8C8D"/>
                </a:solidFill>
                <a:latin typeface="Calibri"/>
                <a:ea typeface="Calibri"/>
                <a:cs typeface="Calibri"/>
              </a:rPr>
              <a:t>,
            </a:t>
            </a:r>
            <a:r>
              <a:rPr lang="en-US" sz="1050" i="1" u="sng">
                <a:solidFill>
                  <a:srgbClr val="0563C1"/>
                </a:solidFill>
                <a:latin typeface="Calibri"/>
                <a:ea typeface="Calibri"/>
                <a:cs typeface="Calibri"/>
                <a:hlinkClick r:id="rId3"/>
              </a:rPr>
              <a:t>Forrester Wave Q4 2025</a:t>
            </a:r>
            <a:r>
              <a:rPr lang="en-US" sz="1050">
                <a:solidFill>
                  <a:srgbClr val="7F8C8D"/>
                </a:solidFill>
                <a:latin typeface="Calibri"/>
                <a:ea typeface="Calibri"/>
                <a:cs typeface="Calibri"/>
              </a:rPr>
              <a:t>
          </a:t>
            </a:r>
            <a:r>
              <a:rPr lang="en-US" sz="1800">
                <a:latin typeface="Calibri"/>
                <a:ea typeface="Calibri"/>
                <a:cs typeface="Calibri"/>
              </a:rPr>
              <a:t>
       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28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35000" y="635000"/>
            <a:ext cx="10922000" cy="831850"/>
          </a:xfrm>
          <a:prstGeom prst="rect">
            <a:avLst/>
          </a:prstGeom>
        </p:spPr>
        <p:txBody>
          <a:bodyPr wrap="square" rtlCol="0"/>
          <a:lstStyle/>
          <a:p>
            <a:pPr algn="ctr"/>
            <a:r>
              <a:rPr lang="en-US" sz="3300" b="1">
                <a:solidFill>
                  <a:srgbClr val="ECF0F1"/>
                </a:solidFill>
                <a:latin typeface="Georgia"/>
                <a:ea typeface="Georgia"/>
                <a:cs typeface="Georgia"/>
              </a:rPr>
              <a:t>Thank You</a:t>
            </a:r>
          </a:p>
        </p:txBody>
      </p:sp>
      <p:sp>
        <p:nvSpPr>
          <p:cNvPr id="3" name="Shape 3"/>
          <p:cNvSpPr txBox="1"/>
          <p:nvPr/>
        </p:nvSpPr>
        <p:spPr>
          <a:xfrm>
            <a:off x="635000" y="1600200"/>
            <a:ext cx="10922000" cy="546100"/>
          </a:xfrm>
          <a:prstGeom prst="rect">
            <a:avLst/>
          </a:prstGeom>
        </p:spPr>
        <p:txBody>
          <a:bodyPr wrap="square" rtlCol="0"/>
          <a:lstStyle/>
          <a:p>
            <a:pPr algn="ctr"/>
            <a:r>
              <a:rPr lang="en-US" sz="1800">
                <a:latin typeface="Calibri"/>
                <a:ea typeface="Calibri"/>
                <a:cs typeface="Calibri"/>
              </a:rPr>
              <a:t>
          </a:t>
            </a:r>
            <a:r>
              <a:rPr lang="en-US" sz="1650" b="1">
                <a:solidFill>
                  <a:srgbClr val="F39C12"/>
                </a:solidFill>
                <a:latin typeface="Calibri"/>
                <a:ea typeface="Calibri"/>
                <a:cs typeface="Calibri"/>
              </a:rPr>
              <a:t>Questions?</a:t>
            </a:r>
            <a:r>
              <a:rPr lang="en-US" sz="1800">
                <a:latin typeface="Calibri"/>
                <a:ea typeface="Calibri"/>
                <a:cs typeface="Calibri"/>
              </a:rPr>
              <a:t>
        </a:t>
            </a:r>
          </a:p>
        </p:txBody>
      </p:sp>
      <p:sp>
        <p:nvSpPr>
          <p:cNvPr id="4" name="Shape 4"/>
          <p:cNvSpPr txBox="1"/>
          <p:nvPr/>
        </p:nvSpPr>
        <p:spPr>
          <a:xfrm>
            <a:off x="635000" y="2273300"/>
            <a:ext cx="10922000" cy="546100"/>
          </a:xfrm>
          <a:prstGeom prst="rect">
            <a:avLst/>
          </a:prstGeom>
        </p:spPr>
        <p:txBody>
          <a:bodyPr wrap="square" rtlCol="0"/>
          <a:lstStyle/>
          <a:p>
            <a:pPr algn="ctr"/>
            <a:r>
              <a:rPr lang="en-US" sz="1800">
                <a:solidFill>
                  <a:srgbClr val="BDC3C7"/>
                </a:solidFill>
                <a:latin typeface="Calibri"/>
                <a:ea typeface="Calibri"/>
                <a:cs typeface="Calibri"/>
              </a:rPr>
              <a:t>
          </a:t>
            </a:r>
            <a:r>
              <a:rPr lang="en-US" sz="1800" i="1">
                <a:solidFill>
                  <a:srgbClr val="BDC3C7"/>
                </a:solidFill>
                <a:latin typeface="Calibri"/>
                <a:ea typeface="Calibri"/>
                <a:cs typeface="Calibri"/>
              </a:rPr>
              <a:t>Contact the strategy team:</a:t>
            </a:r>
            <a:br/>
            <a:r>
              <a:rPr lang="en-US" sz="1800">
                <a:solidFill>
                  <a:srgbClr val="BDC3C7"/>
                </a:solidFill>
                <a:latin typeface="Calibri"/>
                <a:ea typeface="Calibri"/>
                <a:cs typeface="Calibri"/>
              </a:rPr>
              <a:t>
          </a:t>
            </a:r>
            <a:r>
              <a:rPr lang="en-US" sz="1800" u="sng">
                <a:solidFill>
                  <a:srgbClr val="0563C1"/>
                </a:solidFill>
                <a:latin typeface="Calibri"/>
                <a:ea typeface="Calibri"/>
                <a:cs typeface="Calibri"/>
                <a:hlinkClick r:id="rId2"/>
              </a:rPr>
              <a:t>strategy@example.com</a:t>
            </a:r>
            <a:br/>
            <a:r>
              <a:rPr lang="en-US" sz="1800">
                <a:solidFill>
                  <a:srgbClr val="BDC3C7"/>
                </a:solidFill>
                <a:latin typeface="Calibri"/>
                <a:ea typeface="Calibri"/>
                <a:cs typeface="Calibri"/>
              </a:rPr>
              <a:t>
          </a:t>
            </a:r>
            <a:r>
              <a:rPr lang="en-US" sz="1050">
                <a:solidFill>
                  <a:srgbClr val="BDC3C7"/>
                </a:solidFill>
                <a:latin typeface="Calibri"/>
                <a:ea typeface="Calibri"/>
                <a:cs typeface="Calibri"/>
              </a:rPr>
              <a:t>Slack: </a:t>
            </a:r>
            <a:r>
              <a:rPr lang="en-US" sz="1050">
                <a:solidFill>
                  <a:srgbClr val="BDC3C7"/>
                </a:solidFill>
                <a:latin typeface="Courier New"/>
                <a:ea typeface="Courier New"/>
                <a:cs typeface="Courier New"/>
              </a:rPr>
              <a:t>#strategy-2026</a:t>
            </a:r>
            <a:r>
              <a:rPr lang="en-US" sz="1800">
                <a:solidFill>
                  <a:srgbClr val="BDC3C7"/>
                </a:solidFill>
                <a:latin typeface="Calibri"/>
                <a:ea typeface="Calibri"/>
                <a:cs typeface="Calibri"/>
              </a:rPr>
              <a:t>
        </a:t>
            </a:r>
          </a:p>
        </p:txBody>
      </p:sp>
      <p:sp>
        <p:nvSpPr>
          <p:cNvPr id="5" name="Shape 5"/>
          <p:cNvSpPr txBox="1"/>
          <p:nvPr/>
        </p:nvSpPr>
        <p:spPr>
          <a:xfrm>
            <a:off x="635000" y="2946400"/>
            <a:ext cx="10922000" cy="546100"/>
          </a:xfrm>
          <a:prstGeom prst="rect">
            <a:avLst/>
          </a:prstGeom>
        </p:spPr>
        <p:txBody>
          <a:bodyPr wrap="square" rtlCol="0"/>
          <a:lstStyle/>
          <a:p>
            <a:pPr algn="ctr"/>
            <a:r>
              <a:rPr lang="en-US" sz="825">
                <a:solidFill>
                  <a:srgbClr val="7F8C8D"/>
                </a:solidFill>
                <a:latin typeface="Calibri"/>
                <a:ea typeface="Calibri"/>
                <a:cs typeface="Calibri"/>
              </a:rPr>
              <a:t>
          This document contains </a:t>
            </a:r>
            <a:r>
              <a:rPr lang="en-US" sz="825" u="sng">
                <a:solidFill>
                  <a:srgbClr val="7F8C8D"/>
                </a:solidFill>
                <a:latin typeface="Calibri"/>
                <a:ea typeface="Calibri"/>
                <a:cs typeface="Calibri"/>
              </a:rPr>
              <a:t>proprietary and confidential</a:t>
            </a:r>
            <a:r>
              <a:rPr lang="en-US" sz="825">
                <a:solidFill>
                  <a:srgbClr val="7F8C8D"/>
                </a:solidFill>
                <a:latin typeface="Calibri"/>
                <a:ea typeface="Calibri"/>
                <a:cs typeface="Calibri"/>
              </a:rPr>
              <a:t> information.</a:t>
            </a:r>
            <a:br/>
            <a:r>
              <a:rPr lang="en-US" sz="825">
                <a:solidFill>
                  <a:srgbClr val="7F8C8D"/>
                </a:solidFill>
                <a:latin typeface="Calibri"/>
                <a:ea typeface="Calibri"/>
                <a:cs typeface="Calibri"/>
              </a:rPr>
              <a:t>
          Distribution outside the Board of Directors is
          </a:t>
            </a:r>
            <a:r>
              <a:rPr lang="en-US" sz="825" b="1">
                <a:solidFill>
                  <a:srgbClr val="E74C3C"/>
                </a:solidFill>
                <a:latin typeface="Calibri"/>
                <a:ea typeface="Calibri"/>
                <a:cs typeface="Calibri"/>
              </a:rPr>
              <a:t>strictly prohibited</a:t>
            </a:r>
            <a:r>
              <a:rPr lang="en-US" sz="825">
                <a:solidFill>
                  <a:srgbClr val="7F8C8D"/>
                </a:solidFill>
                <a:latin typeface="Calibri"/>
                <a:ea typeface="Calibri"/>
                <a:cs typeface="Calibri"/>
              </a:rPr>
              <a:t>.
       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/>
            </a:gs>
            <a:gs pos="100000">
              <a:schemeClr val="phClr"/>
            </a:gs>
          </a:gsLst>
          <a:lin ang="5400000" scaled="0"/>
        </a:gradFill>
        <a:gradFill rotWithShape="1">
          <a:gsLst>
            <a:gs pos="0">
              <a:schemeClr val="phClr"/>
            </a:gs>
            <a:gs pos="100000">
              <a:schemeClr val="phClr"/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