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0058400" cy="7772400" type="custom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 txBox="1"/>
          <p:nvPr/>
        </p:nvSpPr>
        <p:spPr>
          <a:xfrm>
            <a:off x="9055100" y="7302500"/>
            <a:ext cx="6350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381000" y="7302500"/>
            <a:ext cx="3073400" cy="368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STRICTLY</a:t>
            </a: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CONFIDENTIAL</a:t>
            </a:r>
          </a:p>
        </p:txBody>
      </p:sp>
      <p:sp>
        <p:nvSpPr>
          <p:cNvPr id="6" name="Shape 6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8" name="Shape 28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9" name="Shape 29"/>
          <p:cNvSpPr/>
          <p:nvPr/>
        </p:nvSpPr>
        <p:spPr>
          <a:xfrm>
            <a:off x="0" y="4127500"/>
            <a:ext cx="10058400" cy="3644900"/>
          </a:xfrm>
          <a:prstGeom prst="rect">
            <a:avLst/>
          </a:prstGeom>
        </p:spPr>
      </p:sp>
      <p:sp>
        <p:nvSpPr>
          <p:cNvPr id="30" name="Shape 30"/>
          <p:cNvSpPr/>
          <p:nvPr/>
        </p:nvSpPr>
        <p:spPr>
          <a:xfrm>
            <a:off x="0" y="4127500"/>
            <a:ext cx="10058400" cy="3644900"/>
          </a:xfrm>
          <a:custGeom>
            <a:avLst/>
            <a:pathLst>
              <a:path w="10058400" h="3644900">
                <a:moveTo order="1">
                  <a:pt x="0" y="1089025"/>
                </a:moveTo>
                <a:lnTo order="2">
                  <a:pt x="0" y="1089025"/>
                </a:lnTo>
                <a:lnTo order="3">
                  <a:pt x="330200" y="1114425"/>
                </a:lnTo>
                <a:lnTo order="4">
                  <a:pt x="663575" y="1136650"/>
                </a:lnTo>
                <a:lnTo order="5">
                  <a:pt x="663575" y="1136650"/>
                </a:lnTo>
                <a:lnTo order="6">
                  <a:pt x="1019175" y="1155700"/>
                </a:lnTo>
                <a:lnTo order="7">
                  <a:pt x="1368425" y="1171575"/>
                </a:lnTo>
                <a:lnTo order="8">
                  <a:pt x="1717675" y="1184275"/>
                </a:lnTo>
                <a:lnTo order="9">
                  <a:pt x="2060575" y="1193800"/>
                </a:lnTo>
                <a:lnTo order="10">
                  <a:pt x="2403475" y="1196975"/>
                </a:lnTo>
                <a:lnTo order="11">
                  <a:pt x="2743200" y="1196975"/>
                </a:lnTo>
                <a:lnTo order="12">
                  <a:pt x="3079750" y="1193800"/>
                </a:lnTo>
                <a:lnTo order="13">
                  <a:pt x="3413125" y="1184275"/>
                </a:lnTo>
                <a:lnTo order="14">
                  <a:pt x="3743325" y="1174750"/>
                </a:lnTo>
                <a:lnTo order="15">
                  <a:pt x="4070350" y="1158875"/>
                </a:lnTo>
                <a:lnTo order="16">
                  <a:pt x="4394200" y="1139825"/>
                </a:lnTo>
                <a:lnTo order="17">
                  <a:pt x="4711700" y="1117600"/>
                </a:lnTo>
                <a:lnTo order="18">
                  <a:pt x="5029200" y="1092200"/>
                </a:lnTo>
                <a:lnTo order="19">
                  <a:pt x="5337175" y="1063625"/>
                </a:lnTo>
                <a:lnTo order="20">
                  <a:pt x="5645150" y="1031875"/>
                </a:lnTo>
                <a:lnTo order="21">
                  <a:pt x="5946775" y="996950"/>
                </a:lnTo>
                <a:lnTo order="22">
                  <a:pt x="6245225" y="955675"/>
                </a:lnTo>
                <a:lnTo order="23">
                  <a:pt x="6537325" y="914400"/>
                </a:lnTo>
                <a:lnTo order="24">
                  <a:pt x="6826250" y="869950"/>
                </a:lnTo>
                <a:lnTo order="25">
                  <a:pt x="7108825" y="819150"/>
                </a:lnTo>
                <a:lnTo order="26">
                  <a:pt x="7385050" y="768350"/>
                </a:lnTo>
                <a:lnTo order="27">
                  <a:pt x="7658100" y="711200"/>
                </a:lnTo>
                <a:lnTo order="28">
                  <a:pt x="7924800" y="654050"/>
                </a:lnTo>
                <a:lnTo order="29">
                  <a:pt x="8188325" y="593725"/>
                </a:lnTo>
                <a:lnTo order="30">
                  <a:pt x="8442325" y="530225"/>
                </a:lnTo>
                <a:lnTo order="31">
                  <a:pt x="8693150" y="460375"/>
                </a:lnTo>
                <a:lnTo order="32">
                  <a:pt x="8937625" y="390525"/>
                </a:lnTo>
                <a:lnTo order="33">
                  <a:pt x="9172575" y="317500"/>
                </a:lnTo>
                <a:lnTo order="34">
                  <a:pt x="9404350" y="244475"/>
                </a:lnTo>
                <a:lnTo order="35">
                  <a:pt x="9629775" y="165100"/>
                </a:lnTo>
                <a:lnTo order="36">
                  <a:pt x="9845675" y="82550"/>
                </a:lnTo>
                <a:lnTo order="37">
                  <a:pt x="10058400" y="0"/>
                </a:lnTo>
                <a:lnTo order="38">
                  <a:pt x="10058400" y="3644900"/>
                </a:lnTo>
                <a:lnTo order="39">
                  <a:pt x="0" y="3644900"/>
                </a:lnTo>
                <a:lnTo order="40">
                  <a:pt x="0" y="1089025"/>
                </a:lnTo>
                <a:close order="41"/>
              </a:path>
            </a:pathLst>
          </a:custGeom>
          <a:solidFill>
            <a:srgbClr val="15365C"/>
          </a:solidFill>
        </p:spPr>
      </p:sp>
      <p:sp>
        <p:nvSpPr>
          <p:cNvPr id="31" name="Shape 31"/>
          <p:cNvSpPr/>
          <p:nvPr/>
        </p:nvSpPr>
        <p:spPr>
          <a:xfrm>
            <a:off x="1586794" y="3093590"/>
            <a:ext cx="562240" cy="404446"/>
          </a:xfrm>
          <a:custGeom>
            <a:avLst/>
            <a:pathLst>
              <a:path w="562240" h="404446">
                <a:moveTo order="1">
                  <a:pt x="562240" y="404446"/>
                </a:moveTo>
                <a:lnTo order="2">
                  <a:pt x="359156" y="404446"/>
                </a:lnTo>
                <a:lnTo order="3">
                  <a:pt x="359156" y="376360"/>
                </a:lnTo>
                <a:lnTo order="4">
                  <a:pt x="359156" y="376360"/>
                </a:lnTo>
                <a:lnTo order="5">
                  <a:pt x="381721" y="374487"/>
                </a:lnTo>
                <a:lnTo order="6">
                  <a:pt x="398645" y="370742"/>
                </a:lnTo>
                <a:lnTo order="7">
                  <a:pt x="398645" y="370742"/>
                </a:lnTo>
                <a:lnTo order="8">
                  <a:pt x="408047" y="365125"/>
                </a:lnTo>
                <a:lnTo order="9">
                  <a:pt x="411808" y="361380"/>
                </a:lnTo>
                <a:lnTo order="10">
                  <a:pt x="413688" y="355763"/>
                </a:lnTo>
                <a:lnTo order="11">
                  <a:pt x="413688" y="355763"/>
                </a:lnTo>
                <a:lnTo order="12">
                  <a:pt x="417449" y="344528"/>
                </a:lnTo>
                <a:lnTo order="13">
                  <a:pt x="417449" y="329549"/>
                </a:lnTo>
                <a:lnTo order="14">
                  <a:pt x="417449" y="74897"/>
                </a:lnTo>
                <a:lnTo order="15">
                  <a:pt x="265136" y="404446"/>
                </a:lnTo>
                <a:lnTo order="16">
                  <a:pt x="246332" y="404446"/>
                </a:lnTo>
                <a:lnTo order="17">
                  <a:pt x="90259" y="74897"/>
                </a:lnTo>
                <a:lnTo order="18">
                  <a:pt x="90259" y="316442"/>
                </a:lnTo>
                <a:lnTo order="19">
                  <a:pt x="90259" y="316442"/>
                </a:lnTo>
                <a:lnTo order="20">
                  <a:pt x="92140" y="344528"/>
                </a:lnTo>
                <a:lnTo order="21">
                  <a:pt x="92140" y="344528"/>
                </a:lnTo>
                <a:lnTo order="22">
                  <a:pt x="94020" y="353890"/>
                </a:lnTo>
                <a:lnTo order="23">
                  <a:pt x="99661" y="363253"/>
                </a:lnTo>
                <a:lnTo order="24">
                  <a:pt x="99661" y="363253"/>
                </a:lnTo>
                <a:lnTo order="25">
                  <a:pt x="105302" y="368870"/>
                </a:lnTo>
                <a:lnTo order="26">
                  <a:pt x="116585" y="372615"/>
                </a:lnTo>
                <a:lnTo order="27">
                  <a:pt x="116585" y="372615"/>
                </a:lnTo>
                <a:lnTo order="28">
                  <a:pt x="129748" y="376360"/>
                </a:lnTo>
                <a:lnTo order="29">
                  <a:pt x="150432" y="376360"/>
                </a:lnTo>
                <a:lnTo order="30">
                  <a:pt x="150432" y="404446"/>
                </a:lnTo>
                <a:lnTo order="31">
                  <a:pt x="0" y="404446"/>
                </a:lnTo>
                <a:lnTo order="32">
                  <a:pt x="0" y="376360"/>
                </a:lnTo>
                <a:lnTo order="33">
                  <a:pt x="0" y="376360"/>
                </a:lnTo>
                <a:lnTo order="34">
                  <a:pt x="18804" y="376360"/>
                </a:lnTo>
                <a:lnTo order="35">
                  <a:pt x="31967" y="372615"/>
                </a:lnTo>
                <a:lnTo order="36">
                  <a:pt x="31967" y="372615"/>
                </a:lnTo>
                <a:lnTo order="37">
                  <a:pt x="43249" y="368870"/>
                </a:lnTo>
                <a:lnTo order="38">
                  <a:pt x="48890" y="361380"/>
                </a:lnTo>
                <a:lnTo order="39">
                  <a:pt x="48890" y="361380"/>
                </a:lnTo>
                <a:lnTo order="40">
                  <a:pt x="54532" y="353890"/>
                </a:lnTo>
                <a:lnTo order="41">
                  <a:pt x="56412" y="344528"/>
                </a:lnTo>
                <a:lnTo order="42">
                  <a:pt x="56412" y="344528"/>
                </a:lnTo>
                <a:lnTo order="43">
                  <a:pt x="58292" y="316442"/>
                </a:lnTo>
                <a:lnTo order="44">
                  <a:pt x="58292" y="86132"/>
                </a:lnTo>
                <a:lnTo order="45">
                  <a:pt x="58292" y="86132"/>
                </a:lnTo>
                <a:lnTo order="46">
                  <a:pt x="56412" y="65535"/>
                </a:lnTo>
                <a:lnTo order="47">
                  <a:pt x="54532" y="50556"/>
                </a:lnTo>
                <a:lnTo order="48">
                  <a:pt x="54532" y="50556"/>
                </a:lnTo>
                <a:lnTo order="49">
                  <a:pt x="52651" y="44938"/>
                </a:lnTo>
                <a:lnTo order="50">
                  <a:pt x="48890" y="39321"/>
                </a:lnTo>
                <a:lnTo order="51">
                  <a:pt x="45130" y="35576"/>
                </a:lnTo>
                <a:lnTo order="52">
                  <a:pt x="39488" y="33704"/>
                </a:lnTo>
                <a:lnTo order="53">
                  <a:pt x="39488" y="33704"/>
                </a:lnTo>
                <a:lnTo order="54">
                  <a:pt x="33847" y="29959"/>
                </a:lnTo>
                <a:lnTo order="55">
                  <a:pt x="24445" y="28087"/>
                </a:lnTo>
                <a:lnTo order="56">
                  <a:pt x="0" y="26214"/>
                </a:lnTo>
                <a:lnTo order="57">
                  <a:pt x="0" y="0"/>
                </a:lnTo>
                <a:lnTo order="58">
                  <a:pt x="148552" y="0"/>
                </a:lnTo>
                <a:lnTo order="59">
                  <a:pt x="282060" y="284610"/>
                </a:lnTo>
                <a:lnTo order="60">
                  <a:pt x="417449" y="0"/>
                </a:lnTo>
                <a:lnTo order="61">
                  <a:pt x="562240" y="0"/>
                </a:lnTo>
                <a:lnTo order="62">
                  <a:pt x="562240" y="26214"/>
                </a:lnTo>
                <a:lnTo order="63">
                  <a:pt x="562240" y="26214"/>
                </a:lnTo>
                <a:lnTo order="64">
                  <a:pt x="545316" y="28087"/>
                </a:lnTo>
                <a:lnTo order="65">
                  <a:pt x="532153" y="29959"/>
                </a:lnTo>
                <a:lnTo order="66">
                  <a:pt x="520871" y="33704"/>
                </a:lnTo>
                <a:lnTo order="67">
                  <a:pt x="515230" y="37449"/>
                </a:lnTo>
                <a:lnTo order="68">
                  <a:pt x="515230" y="37449"/>
                </a:lnTo>
                <a:lnTo order="69">
                  <a:pt x="509588" y="44938"/>
                </a:lnTo>
                <a:lnTo order="70">
                  <a:pt x="505828" y="52428"/>
                </a:lnTo>
                <a:lnTo order="71">
                  <a:pt x="503947" y="63663"/>
                </a:lnTo>
                <a:lnTo order="72">
                  <a:pt x="503947" y="74897"/>
                </a:lnTo>
                <a:lnTo order="73">
                  <a:pt x="503947" y="329549"/>
                </a:lnTo>
                <a:lnTo order="74">
                  <a:pt x="503947" y="329549"/>
                </a:lnTo>
                <a:lnTo order="75">
                  <a:pt x="503947" y="344528"/>
                </a:lnTo>
                <a:lnTo order="76">
                  <a:pt x="507708" y="355763"/>
                </a:lnTo>
                <a:lnTo order="77">
                  <a:pt x="507708" y="355763"/>
                </a:lnTo>
                <a:lnTo order="78">
                  <a:pt x="509588" y="359508"/>
                </a:lnTo>
                <a:lnTo order="79">
                  <a:pt x="513349" y="365125"/>
                </a:lnTo>
                <a:lnTo order="80">
                  <a:pt x="522751" y="370742"/>
                </a:lnTo>
                <a:lnTo order="81">
                  <a:pt x="522751" y="370742"/>
                </a:lnTo>
                <a:lnTo order="82">
                  <a:pt x="539675" y="374487"/>
                </a:lnTo>
                <a:lnTo order="83">
                  <a:pt x="562240" y="376360"/>
                </a:lnTo>
                <a:lnTo order="84">
                  <a:pt x="562240" y="404446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32" name="Shape 32"/>
          <p:cNvSpPr/>
          <p:nvPr/>
        </p:nvSpPr>
        <p:spPr>
          <a:xfrm>
            <a:off x="2171524" y="3086100"/>
            <a:ext cx="442295" cy="419426"/>
          </a:xfrm>
          <a:custGeom>
            <a:avLst/>
            <a:pathLst>
              <a:path w="442295" h="419426">
                <a:moveTo order="1">
                  <a:pt x="442295" y="252779"/>
                </a:moveTo>
                <a:lnTo order="2">
                  <a:pt x="442295" y="252779"/>
                </a:lnTo>
                <a:lnTo order="3">
                  <a:pt x="427238" y="254651"/>
                </a:lnTo>
                <a:lnTo order="4">
                  <a:pt x="415946" y="258396"/>
                </a:lnTo>
                <a:lnTo order="5">
                  <a:pt x="415946" y="258396"/>
                </a:lnTo>
                <a:lnTo order="6">
                  <a:pt x="408417" y="262141"/>
                </a:lnTo>
                <a:lnTo order="7">
                  <a:pt x="402771" y="269631"/>
                </a:lnTo>
                <a:lnTo order="8">
                  <a:pt x="402771" y="269631"/>
                </a:lnTo>
                <a:lnTo order="9">
                  <a:pt x="400889" y="282738"/>
                </a:lnTo>
                <a:lnTo order="10">
                  <a:pt x="400889" y="297717"/>
                </a:lnTo>
                <a:lnTo order="11">
                  <a:pt x="400889" y="393212"/>
                </a:lnTo>
                <a:lnTo order="12">
                  <a:pt x="400889" y="393212"/>
                </a:lnTo>
                <a:lnTo order="13">
                  <a:pt x="378304" y="393212"/>
                </a:lnTo>
                <a:lnTo order="14">
                  <a:pt x="353836" y="396956"/>
                </a:lnTo>
                <a:lnTo order="15">
                  <a:pt x="331251" y="398829"/>
                </a:lnTo>
                <a:lnTo order="16">
                  <a:pt x="306783" y="404446"/>
                </a:lnTo>
                <a:lnTo order="17">
                  <a:pt x="306783" y="404446"/>
                </a:lnTo>
                <a:lnTo order="18">
                  <a:pt x="250320" y="415681"/>
                </a:lnTo>
                <a:lnTo order="19">
                  <a:pt x="250320" y="415681"/>
                </a:lnTo>
                <a:lnTo order="20">
                  <a:pt x="231499" y="417553"/>
                </a:lnTo>
                <a:lnTo order="21">
                  <a:pt x="207032" y="419426"/>
                </a:lnTo>
                <a:lnTo order="22">
                  <a:pt x="207032" y="419426"/>
                </a:lnTo>
                <a:lnTo order="23">
                  <a:pt x="176918" y="417553"/>
                </a:lnTo>
                <a:lnTo order="24">
                  <a:pt x="146804" y="411936"/>
                </a:lnTo>
                <a:lnTo order="25">
                  <a:pt x="120455" y="402574"/>
                </a:lnTo>
                <a:lnTo order="26">
                  <a:pt x="107280" y="395084"/>
                </a:lnTo>
                <a:lnTo order="27">
                  <a:pt x="94105" y="387594"/>
                </a:lnTo>
                <a:lnTo order="28">
                  <a:pt x="94105" y="387594"/>
                </a:lnTo>
                <a:lnTo order="29">
                  <a:pt x="73402" y="372615"/>
                </a:lnTo>
                <a:lnTo order="30">
                  <a:pt x="54581" y="353890"/>
                </a:lnTo>
                <a:lnTo order="31">
                  <a:pt x="37642" y="331421"/>
                </a:lnTo>
                <a:lnTo order="32">
                  <a:pt x="24467" y="308952"/>
                </a:lnTo>
                <a:lnTo order="33">
                  <a:pt x="24467" y="308952"/>
                </a:lnTo>
                <a:lnTo order="34">
                  <a:pt x="13175" y="284610"/>
                </a:lnTo>
                <a:lnTo order="35">
                  <a:pt x="7528" y="260269"/>
                </a:lnTo>
                <a:lnTo order="36">
                  <a:pt x="1882" y="235927"/>
                </a:lnTo>
                <a:lnTo order="37">
                  <a:pt x="0" y="209713"/>
                </a:lnTo>
                <a:lnTo order="38">
                  <a:pt x="0" y="209713"/>
                </a:lnTo>
                <a:lnTo order="39">
                  <a:pt x="1882" y="181626"/>
                </a:lnTo>
                <a:lnTo order="40">
                  <a:pt x="7528" y="153540"/>
                </a:lnTo>
                <a:lnTo order="41">
                  <a:pt x="16939" y="127326"/>
                </a:lnTo>
                <a:lnTo order="42">
                  <a:pt x="28232" y="102984"/>
                </a:lnTo>
                <a:lnTo order="43">
                  <a:pt x="28232" y="102984"/>
                </a:lnTo>
                <a:lnTo order="44">
                  <a:pt x="43288" y="80515"/>
                </a:lnTo>
                <a:lnTo order="45">
                  <a:pt x="62110" y="59918"/>
                </a:lnTo>
                <a:lnTo order="46">
                  <a:pt x="80931" y="43066"/>
                </a:lnTo>
                <a:lnTo order="47">
                  <a:pt x="103516" y="28087"/>
                </a:lnTo>
                <a:lnTo order="48">
                  <a:pt x="103516" y="28087"/>
                </a:lnTo>
                <a:lnTo order="49">
                  <a:pt x="127983" y="14979"/>
                </a:lnTo>
                <a:lnTo order="50">
                  <a:pt x="154333" y="7490"/>
                </a:lnTo>
                <a:lnTo order="51">
                  <a:pt x="180682" y="1872"/>
                </a:lnTo>
                <a:lnTo order="52">
                  <a:pt x="208914" y="0"/>
                </a:lnTo>
                <a:lnTo order="53">
                  <a:pt x="208914" y="0"/>
                </a:lnTo>
                <a:lnTo order="54">
                  <a:pt x="225853" y="0"/>
                </a:lnTo>
                <a:lnTo order="55">
                  <a:pt x="242792" y="3745"/>
                </a:lnTo>
                <a:lnTo order="56">
                  <a:pt x="257849" y="7490"/>
                </a:lnTo>
                <a:lnTo order="57">
                  <a:pt x="274788" y="11235"/>
                </a:lnTo>
                <a:lnTo order="58">
                  <a:pt x="289844" y="18724"/>
                </a:lnTo>
                <a:lnTo order="59">
                  <a:pt x="304901" y="26214"/>
                </a:lnTo>
                <a:lnTo order="60">
                  <a:pt x="319958" y="35576"/>
                </a:lnTo>
                <a:lnTo order="61">
                  <a:pt x="333133" y="46811"/>
                </a:lnTo>
                <a:lnTo order="62">
                  <a:pt x="333133" y="46811"/>
                </a:lnTo>
                <a:lnTo order="63">
                  <a:pt x="340661" y="31831"/>
                </a:lnTo>
                <a:lnTo order="64">
                  <a:pt x="344426" y="13107"/>
                </a:lnTo>
                <a:lnTo order="65">
                  <a:pt x="374539" y="13107"/>
                </a:lnTo>
                <a:lnTo order="66">
                  <a:pt x="376421" y="144178"/>
                </a:lnTo>
                <a:lnTo order="67">
                  <a:pt x="350072" y="144178"/>
                </a:lnTo>
                <a:lnTo order="68">
                  <a:pt x="350072" y="144178"/>
                </a:lnTo>
                <a:lnTo order="69">
                  <a:pt x="346308" y="129198"/>
                </a:lnTo>
                <a:lnTo order="70">
                  <a:pt x="340661" y="116091"/>
                </a:lnTo>
                <a:lnTo order="71">
                  <a:pt x="333133" y="102984"/>
                </a:lnTo>
                <a:lnTo order="72">
                  <a:pt x="325605" y="89877"/>
                </a:lnTo>
                <a:lnTo order="73">
                  <a:pt x="325605" y="89877"/>
                </a:lnTo>
                <a:lnTo order="74">
                  <a:pt x="316194" y="76770"/>
                </a:lnTo>
                <a:lnTo order="75">
                  <a:pt x="306783" y="67408"/>
                </a:lnTo>
                <a:lnTo order="76">
                  <a:pt x="295491" y="58046"/>
                </a:lnTo>
                <a:lnTo order="77">
                  <a:pt x="282316" y="50556"/>
                </a:lnTo>
                <a:lnTo order="78">
                  <a:pt x="282316" y="50556"/>
                </a:lnTo>
                <a:lnTo order="79">
                  <a:pt x="269141" y="43066"/>
                </a:lnTo>
                <a:lnTo order="80">
                  <a:pt x="255967" y="39321"/>
                </a:lnTo>
                <a:lnTo order="81">
                  <a:pt x="240910" y="35576"/>
                </a:lnTo>
                <a:lnTo order="82">
                  <a:pt x="225853" y="35576"/>
                </a:lnTo>
                <a:lnTo order="83">
                  <a:pt x="225853" y="35576"/>
                </a:lnTo>
                <a:lnTo order="84">
                  <a:pt x="203268" y="37449"/>
                </a:lnTo>
                <a:lnTo order="85">
                  <a:pt x="180682" y="43066"/>
                </a:lnTo>
                <a:lnTo order="86">
                  <a:pt x="180682" y="43066"/>
                </a:lnTo>
                <a:lnTo order="87">
                  <a:pt x="169390" y="48683"/>
                </a:lnTo>
                <a:lnTo order="88">
                  <a:pt x="159979" y="54301"/>
                </a:lnTo>
                <a:lnTo order="89">
                  <a:pt x="150569" y="61790"/>
                </a:lnTo>
                <a:lnTo order="90">
                  <a:pt x="139276" y="71153"/>
                </a:lnTo>
                <a:lnTo order="91">
                  <a:pt x="139276" y="71153"/>
                </a:lnTo>
                <a:lnTo order="92">
                  <a:pt x="131747" y="80515"/>
                </a:lnTo>
                <a:lnTo order="93">
                  <a:pt x="122337" y="93622"/>
                </a:lnTo>
                <a:lnTo order="94">
                  <a:pt x="114809" y="108601"/>
                </a:lnTo>
                <a:lnTo order="95">
                  <a:pt x="109162" y="123581"/>
                </a:lnTo>
                <a:lnTo order="96">
                  <a:pt x="109162" y="123581"/>
                </a:lnTo>
                <a:lnTo order="97">
                  <a:pt x="103516" y="142305"/>
                </a:lnTo>
                <a:lnTo order="98">
                  <a:pt x="101634" y="161029"/>
                </a:lnTo>
                <a:lnTo order="99">
                  <a:pt x="97870" y="183499"/>
                </a:lnTo>
                <a:lnTo order="100">
                  <a:pt x="97870" y="207840"/>
                </a:lnTo>
                <a:lnTo order="101">
                  <a:pt x="97870" y="207840"/>
                </a:lnTo>
                <a:lnTo order="102">
                  <a:pt x="97870" y="228437"/>
                </a:lnTo>
                <a:lnTo order="103">
                  <a:pt x="99752" y="249034"/>
                </a:lnTo>
                <a:lnTo order="104">
                  <a:pt x="103516" y="267758"/>
                </a:lnTo>
                <a:lnTo order="105">
                  <a:pt x="107280" y="288355"/>
                </a:lnTo>
                <a:lnTo order="106">
                  <a:pt x="107280" y="288355"/>
                </a:lnTo>
                <a:lnTo order="107">
                  <a:pt x="112926" y="307079"/>
                </a:lnTo>
                <a:lnTo order="108">
                  <a:pt x="120455" y="323931"/>
                </a:lnTo>
                <a:lnTo order="109">
                  <a:pt x="129865" y="340783"/>
                </a:lnTo>
                <a:lnTo order="110">
                  <a:pt x="143040" y="355763"/>
                </a:lnTo>
                <a:lnTo order="111">
                  <a:pt x="143040" y="355763"/>
                </a:lnTo>
                <a:lnTo order="112">
                  <a:pt x="150569" y="361380"/>
                </a:lnTo>
                <a:lnTo order="113">
                  <a:pt x="158097" y="366997"/>
                </a:lnTo>
                <a:lnTo order="114">
                  <a:pt x="176918" y="376360"/>
                </a:lnTo>
                <a:lnTo order="115">
                  <a:pt x="197621" y="381977"/>
                </a:lnTo>
                <a:lnTo order="116">
                  <a:pt x="222089" y="383849"/>
                </a:lnTo>
                <a:lnTo order="117">
                  <a:pt x="222089" y="383849"/>
                </a:lnTo>
                <a:lnTo order="118">
                  <a:pt x="239028" y="381977"/>
                </a:lnTo>
                <a:lnTo order="119">
                  <a:pt x="255967" y="380104"/>
                </a:lnTo>
                <a:lnTo order="120">
                  <a:pt x="269141" y="376360"/>
                </a:lnTo>
                <a:lnTo order="121">
                  <a:pt x="280434" y="370742"/>
                </a:lnTo>
                <a:lnTo order="122">
                  <a:pt x="280434" y="370742"/>
                </a:lnTo>
                <a:lnTo order="123">
                  <a:pt x="289844" y="365125"/>
                </a:lnTo>
                <a:lnTo order="124">
                  <a:pt x="297373" y="357635"/>
                </a:lnTo>
                <a:lnTo order="125">
                  <a:pt x="303019" y="350146"/>
                </a:lnTo>
                <a:lnTo order="126">
                  <a:pt x="308666" y="340783"/>
                </a:lnTo>
                <a:lnTo order="127">
                  <a:pt x="308666" y="340783"/>
                </a:lnTo>
                <a:lnTo order="128">
                  <a:pt x="312430" y="322059"/>
                </a:lnTo>
                <a:lnTo order="129">
                  <a:pt x="314312" y="301462"/>
                </a:lnTo>
                <a:lnTo order="130">
                  <a:pt x="314312" y="301462"/>
                </a:lnTo>
                <a:lnTo order="131">
                  <a:pt x="312430" y="282738"/>
                </a:lnTo>
                <a:lnTo order="132">
                  <a:pt x="310548" y="269631"/>
                </a:lnTo>
                <a:lnTo order="133">
                  <a:pt x="310548" y="269631"/>
                </a:lnTo>
                <a:lnTo order="134">
                  <a:pt x="308666" y="265886"/>
                </a:lnTo>
                <a:lnTo order="135">
                  <a:pt x="304901" y="262141"/>
                </a:lnTo>
                <a:lnTo order="136">
                  <a:pt x="295491" y="256524"/>
                </a:lnTo>
                <a:lnTo order="137">
                  <a:pt x="295491" y="256524"/>
                </a:lnTo>
                <a:lnTo order="138">
                  <a:pt x="282316" y="252779"/>
                </a:lnTo>
                <a:lnTo order="139">
                  <a:pt x="259731" y="252779"/>
                </a:lnTo>
                <a:lnTo order="140">
                  <a:pt x="259731" y="224692"/>
                </a:lnTo>
                <a:lnTo order="141">
                  <a:pt x="442295" y="224692"/>
                </a:lnTo>
                <a:lnTo order="142">
                  <a:pt x="442295" y="252779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33" name="Shape 33"/>
          <p:cNvSpPr/>
          <p:nvPr/>
        </p:nvSpPr>
        <p:spPr>
          <a:xfrm>
            <a:off x="2643805" y="3086100"/>
            <a:ext cx="442295" cy="419426"/>
          </a:xfrm>
          <a:custGeom>
            <a:avLst/>
            <a:pathLst>
              <a:path w="442295" h="419426">
                <a:moveTo order="1">
                  <a:pt x="442295" y="252779"/>
                </a:moveTo>
                <a:lnTo order="2">
                  <a:pt x="442295" y="252779"/>
                </a:lnTo>
                <a:lnTo order="3">
                  <a:pt x="427174" y="254651"/>
                </a:lnTo>
                <a:lnTo order="4">
                  <a:pt x="415833" y="258396"/>
                </a:lnTo>
                <a:lnTo order="5">
                  <a:pt x="415833" y="258396"/>
                </a:lnTo>
                <a:lnTo order="6">
                  <a:pt x="410163" y="262141"/>
                </a:lnTo>
                <a:lnTo order="7">
                  <a:pt x="404492" y="269631"/>
                </a:lnTo>
                <a:lnTo order="8">
                  <a:pt x="404492" y="269631"/>
                </a:lnTo>
                <a:lnTo order="9">
                  <a:pt x="402602" y="282738"/>
                </a:lnTo>
                <a:lnTo order="10">
                  <a:pt x="400712" y="297717"/>
                </a:lnTo>
                <a:lnTo order="11">
                  <a:pt x="400712" y="393212"/>
                </a:lnTo>
                <a:lnTo order="12">
                  <a:pt x="400712" y="393212"/>
                </a:lnTo>
                <a:lnTo order="13">
                  <a:pt x="379920" y="393212"/>
                </a:lnTo>
                <a:lnTo order="14">
                  <a:pt x="355348" y="396956"/>
                </a:lnTo>
                <a:lnTo order="15">
                  <a:pt x="332666" y="398829"/>
                </a:lnTo>
                <a:lnTo order="16">
                  <a:pt x="306204" y="404446"/>
                </a:lnTo>
                <a:lnTo order="17">
                  <a:pt x="306204" y="404446"/>
                </a:lnTo>
                <a:lnTo order="18">
                  <a:pt x="251390" y="415681"/>
                </a:lnTo>
                <a:lnTo order="19">
                  <a:pt x="251390" y="415681"/>
                </a:lnTo>
                <a:lnTo order="20">
                  <a:pt x="232488" y="417553"/>
                </a:lnTo>
                <a:lnTo order="21">
                  <a:pt x="207917" y="419426"/>
                </a:lnTo>
                <a:lnTo order="22">
                  <a:pt x="207917" y="419426"/>
                </a:lnTo>
                <a:lnTo order="23">
                  <a:pt x="175784" y="417553"/>
                </a:lnTo>
                <a:lnTo order="24">
                  <a:pt x="147432" y="411936"/>
                </a:lnTo>
                <a:lnTo order="25">
                  <a:pt x="119079" y="402574"/>
                </a:lnTo>
                <a:lnTo order="26">
                  <a:pt x="107739" y="395084"/>
                </a:lnTo>
                <a:lnTo order="27">
                  <a:pt x="94508" y="387594"/>
                </a:lnTo>
                <a:lnTo order="28">
                  <a:pt x="94508" y="387594"/>
                </a:lnTo>
                <a:lnTo order="29">
                  <a:pt x="71826" y="372615"/>
                </a:lnTo>
                <a:lnTo order="30">
                  <a:pt x="52924" y="353890"/>
                </a:lnTo>
                <a:lnTo order="31">
                  <a:pt x="37803" y="331421"/>
                </a:lnTo>
                <a:lnTo order="32">
                  <a:pt x="24572" y="308952"/>
                </a:lnTo>
                <a:lnTo order="33">
                  <a:pt x="24572" y="308952"/>
                </a:lnTo>
                <a:lnTo order="34">
                  <a:pt x="13231" y="284610"/>
                </a:lnTo>
                <a:lnTo order="35">
                  <a:pt x="5670" y="260269"/>
                </a:lnTo>
                <a:lnTo order="36">
                  <a:pt x="1890" y="235927"/>
                </a:lnTo>
                <a:lnTo order="37">
                  <a:pt x="0" y="209713"/>
                </a:lnTo>
                <a:lnTo order="38">
                  <a:pt x="0" y="209713"/>
                </a:lnTo>
                <a:lnTo order="39">
                  <a:pt x="1890" y="181626"/>
                </a:lnTo>
                <a:lnTo order="40">
                  <a:pt x="7561" y="153540"/>
                </a:lnTo>
                <a:lnTo order="41">
                  <a:pt x="17011" y="127326"/>
                </a:lnTo>
                <a:lnTo order="42">
                  <a:pt x="28352" y="102984"/>
                </a:lnTo>
                <a:lnTo order="43">
                  <a:pt x="28352" y="102984"/>
                </a:lnTo>
                <a:lnTo order="44">
                  <a:pt x="43473" y="80515"/>
                </a:lnTo>
                <a:lnTo order="45">
                  <a:pt x="60485" y="59918"/>
                </a:lnTo>
                <a:lnTo order="46">
                  <a:pt x="81276" y="43066"/>
                </a:lnTo>
                <a:lnTo order="47">
                  <a:pt x="103958" y="28087"/>
                </a:lnTo>
                <a:lnTo order="48">
                  <a:pt x="103958" y="28087"/>
                </a:lnTo>
                <a:lnTo order="49">
                  <a:pt x="128530" y="14979"/>
                </a:lnTo>
                <a:lnTo order="50">
                  <a:pt x="154992" y="7490"/>
                </a:lnTo>
                <a:lnTo order="51">
                  <a:pt x="181454" y="1872"/>
                </a:lnTo>
                <a:lnTo order="52">
                  <a:pt x="209807" y="0"/>
                </a:lnTo>
                <a:lnTo order="53">
                  <a:pt x="209807" y="0"/>
                </a:lnTo>
                <a:lnTo order="54">
                  <a:pt x="226818" y="0"/>
                </a:lnTo>
                <a:lnTo order="55">
                  <a:pt x="241939" y="3745"/>
                </a:lnTo>
                <a:lnTo order="56">
                  <a:pt x="258951" y="7490"/>
                </a:lnTo>
                <a:lnTo order="57">
                  <a:pt x="275962" y="11235"/>
                </a:lnTo>
                <a:lnTo order="58">
                  <a:pt x="291083" y="18724"/>
                </a:lnTo>
                <a:lnTo order="59">
                  <a:pt x="306204" y="26214"/>
                </a:lnTo>
                <a:lnTo order="60">
                  <a:pt x="321326" y="35576"/>
                </a:lnTo>
                <a:lnTo order="61">
                  <a:pt x="334557" y="46811"/>
                </a:lnTo>
                <a:lnTo order="62">
                  <a:pt x="334557" y="46811"/>
                </a:lnTo>
                <a:lnTo order="63">
                  <a:pt x="342117" y="31831"/>
                </a:lnTo>
                <a:lnTo order="64">
                  <a:pt x="345897" y="13107"/>
                </a:lnTo>
                <a:lnTo order="65">
                  <a:pt x="376140" y="13107"/>
                </a:lnTo>
                <a:lnTo order="66">
                  <a:pt x="378030" y="144178"/>
                </a:lnTo>
                <a:lnTo order="67">
                  <a:pt x="351568" y="144178"/>
                </a:lnTo>
                <a:lnTo order="68">
                  <a:pt x="351568" y="144178"/>
                </a:lnTo>
                <a:lnTo order="69">
                  <a:pt x="345897" y="129198"/>
                </a:lnTo>
                <a:lnTo order="70">
                  <a:pt x="342117" y="116091"/>
                </a:lnTo>
                <a:lnTo order="71">
                  <a:pt x="334557" y="102984"/>
                </a:lnTo>
                <a:lnTo order="72">
                  <a:pt x="326996" y="89877"/>
                </a:lnTo>
                <a:lnTo order="73">
                  <a:pt x="326996" y="89877"/>
                </a:lnTo>
                <a:lnTo order="74">
                  <a:pt x="317545" y="76770"/>
                </a:lnTo>
                <a:lnTo order="75">
                  <a:pt x="308094" y="67408"/>
                </a:lnTo>
                <a:lnTo order="76">
                  <a:pt x="296754" y="58046"/>
                </a:lnTo>
                <a:lnTo order="77">
                  <a:pt x="283523" y="50556"/>
                </a:lnTo>
                <a:lnTo order="78">
                  <a:pt x="283523" y="50556"/>
                </a:lnTo>
                <a:lnTo order="79">
                  <a:pt x="270291" y="43066"/>
                </a:lnTo>
                <a:lnTo order="80">
                  <a:pt x="255170" y="39321"/>
                </a:lnTo>
                <a:lnTo order="81">
                  <a:pt x="241939" y="35576"/>
                </a:lnTo>
                <a:lnTo order="82">
                  <a:pt x="226818" y="35576"/>
                </a:lnTo>
                <a:lnTo order="83">
                  <a:pt x="226818" y="35576"/>
                </a:lnTo>
                <a:lnTo order="84">
                  <a:pt x="204136" y="37449"/>
                </a:lnTo>
                <a:lnTo order="85">
                  <a:pt x="181454" y="43066"/>
                </a:lnTo>
                <a:lnTo order="86">
                  <a:pt x="181454" y="43066"/>
                </a:lnTo>
                <a:lnTo order="87">
                  <a:pt x="170114" y="48683"/>
                </a:lnTo>
                <a:lnTo order="88">
                  <a:pt x="160663" y="54301"/>
                </a:lnTo>
                <a:lnTo order="89">
                  <a:pt x="149322" y="61790"/>
                </a:lnTo>
                <a:lnTo order="90">
                  <a:pt x="139871" y="71153"/>
                </a:lnTo>
                <a:lnTo order="91">
                  <a:pt x="139871" y="71153"/>
                </a:lnTo>
                <a:lnTo order="92">
                  <a:pt x="130420" y="80515"/>
                </a:lnTo>
                <a:lnTo order="93">
                  <a:pt x="122860" y="93622"/>
                </a:lnTo>
                <a:lnTo order="94">
                  <a:pt x="115299" y="108601"/>
                </a:lnTo>
                <a:lnTo order="95">
                  <a:pt x="109629" y="123581"/>
                </a:lnTo>
                <a:lnTo order="96">
                  <a:pt x="109629" y="123581"/>
                </a:lnTo>
                <a:lnTo order="97">
                  <a:pt x="103958" y="142305"/>
                </a:lnTo>
                <a:lnTo order="98">
                  <a:pt x="100178" y="161029"/>
                </a:lnTo>
                <a:lnTo order="99">
                  <a:pt x="98288" y="183499"/>
                </a:lnTo>
                <a:lnTo order="100">
                  <a:pt x="98288" y="207840"/>
                </a:lnTo>
                <a:lnTo order="101">
                  <a:pt x="98288" y="207840"/>
                </a:lnTo>
                <a:lnTo order="102">
                  <a:pt x="98288" y="228437"/>
                </a:lnTo>
                <a:lnTo order="103">
                  <a:pt x="100178" y="249034"/>
                </a:lnTo>
                <a:lnTo order="104">
                  <a:pt x="102068" y="267758"/>
                </a:lnTo>
                <a:lnTo order="105">
                  <a:pt x="107739" y="288355"/>
                </a:lnTo>
                <a:lnTo order="106">
                  <a:pt x="107739" y="288355"/>
                </a:lnTo>
                <a:lnTo order="107">
                  <a:pt x="113409" y="307079"/>
                </a:lnTo>
                <a:lnTo order="108">
                  <a:pt x="120970" y="323931"/>
                </a:lnTo>
                <a:lnTo order="109">
                  <a:pt x="130420" y="340783"/>
                </a:lnTo>
                <a:lnTo order="110">
                  <a:pt x="143651" y="355763"/>
                </a:lnTo>
                <a:lnTo order="111">
                  <a:pt x="143651" y="355763"/>
                </a:lnTo>
                <a:lnTo order="112">
                  <a:pt x="151212" y="361380"/>
                </a:lnTo>
                <a:lnTo order="113">
                  <a:pt x="158773" y="366997"/>
                </a:lnTo>
                <a:lnTo order="114">
                  <a:pt x="177674" y="376360"/>
                </a:lnTo>
                <a:lnTo order="115">
                  <a:pt x="198466" y="381977"/>
                </a:lnTo>
                <a:lnTo order="116">
                  <a:pt x="221148" y="383849"/>
                </a:lnTo>
                <a:lnTo order="117">
                  <a:pt x="221148" y="383849"/>
                </a:lnTo>
                <a:lnTo order="118">
                  <a:pt x="240049" y="381977"/>
                </a:lnTo>
                <a:lnTo order="119">
                  <a:pt x="257060" y="380104"/>
                </a:lnTo>
                <a:lnTo order="120">
                  <a:pt x="270291" y="376360"/>
                </a:lnTo>
                <a:lnTo order="121">
                  <a:pt x="281632" y="370742"/>
                </a:lnTo>
                <a:lnTo order="122">
                  <a:pt x="281632" y="370742"/>
                </a:lnTo>
                <a:lnTo order="123">
                  <a:pt x="291083" y="365125"/>
                </a:lnTo>
                <a:lnTo order="124">
                  <a:pt x="298644" y="357635"/>
                </a:lnTo>
                <a:lnTo order="125">
                  <a:pt x="304314" y="350146"/>
                </a:lnTo>
                <a:lnTo order="126">
                  <a:pt x="308094" y="340783"/>
                </a:lnTo>
                <a:lnTo order="127">
                  <a:pt x="308094" y="340783"/>
                </a:lnTo>
                <a:lnTo order="128">
                  <a:pt x="313765" y="322059"/>
                </a:lnTo>
                <a:lnTo order="129">
                  <a:pt x="315655" y="301462"/>
                </a:lnTo>
                <a:lnTo order="130">
                  <a:pt x="315655" y="301462"/>
                </a:lnTo>
                <a:lnTo order="131">
                  <a:pt x="313765" y="282738"/>
                </a:lnTo>
                <a:lnTo order="132">
                  <a:pt x="311875" y="269631"/>
                </a:lnTo>
                <a:lnTo order="133">
                  <a:pt x="311875" y="269631"/>
                </a:lnTo>
                <a:lnTo order="134">
                  <a:pt x="309985" y="265886"/>
                </a:lnTo>
                <a:lnTo order="135">
                  <a:pt x="306204" y="262141"/>
                </a:lnTo>
                <a:lnTo order="136">
                  <a:pt x="296754" y="256524"/>
                </a:lnTo>
                <a:lnTo order="137">
                  <a:pt x="296754" y="256524"/>
                </a:lnTo>
                <a:lnTo order="138">
                  <a:pt x="281632" y="252779"/>
                </a:lnTo>
                <a:lnTo order="139">
                  <a:pt x="260841" y="252779"/>
                </a:lnTo>
                <a:lnTo order="140">
                  <a:pt x="260841" y="224692"/>
                </a:lnTo>
                <a:lnTo order="141">
                  <a:pt x="442295" y="224692"/>
                </a:lnTo>
                <a:lnTo order="142">
                  <a:pt x="442295" y="252779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34" name="Shape 34"/>
          <p:cNvSpPr/>
          <p:nvPr/>
        </p:nvSpPr>
        <p:spPr>
          <a:xfrm>
            <a:off x="1586794" y="3580423"/>
            <a:ext cx="44979" cy="82387"/>
          </a:xfrm>
          <a:custGeom>
            <a:avLst/>
            <a:pathLst>
              <a:path w="44979" h="82387">
                <a:moveTo order="1">
                  <a:pt x="31290" y="61790"/>
                </a:moveTo>
                <a:lnTo order="2">
                  <a:pt x="31290" y="61790"/>
                </a:lnTo>
                <a:lnTo order="3">
                  <a:pt x="31290" y="69280"/>
                </a:lnTo>
                <a:lnTo order="4">
                  <a:pt x="33245" y="74897"/>
                </a:lnTo>
                <a:lnTo order="5">
                  <a:pt x="37157" y="76770"/>
                </a:lnTo>
                <a:lnTo order="6">
                  <a:pt x="44979" y="78642"/>
                </a:lnTo>
                <a:lnTo order="7">
                  <a:pt x="44979" y="82387"/>
                </a:lnTo>
                <a:lnTo order="8">
                  <a:pt x="44979" y="82387"/>
                </a:lnTo>
                <a:lnTo order="9">
                  <a:pt x="23467" y="80515"/>
                </a:lnTo>
                <a:lnTo order="10">
                  <a:pt x="23467" y="80515"/>
                </a:lnTo>
                <a:lnTo order="11">
                  <a:pt x="0" y="82387"/>
                </a:lnTo>
                <a:lnTo order="12">
                  <a:pt x="0" y="78642"/>
                </a:lnTo>
                <a:lnTo order="13">
                  <a:pt x="0" y="78642"/>
                </a:lnTo>
                <a:lnTo order="14">
                  <a:pt x="7822" y="76770"/>
                </a:lnTo>
                <a:lnTo order="15">
                  <a:pt x="11734" y="74897"/>
                </a:lnTo>
                <a:lnTo order="16">
                  <a:pt x="13689" y="69280"/>
                </a:lnTo>
                <a:lnTo order="17">
                  <a:pt x="13689" y="61790"/>
                </a:lnTo>
                <a:lnTo order="18">
                  <a:pt x="13689" y="20597"/>
                </a:lnTo>
                <a:lnTo order="19">
                  <a:pt x="13689" y="20597"/>
                </a:lnTo>
                <a:lnTo order="20">
                  <a:pt x="13689" y="11235"/>
                </a:lnTo>
                <a:lnTo order="21">
                  <a:pt x="11734" y="7490"/>
                </a:lnTo>
                <a:lnTo order="22">
                  <a:pt x="7822" y="3745"/>
                </a:lnTo>
                <a:lnTo order="23">
                  <a:pt x="0" y="3745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23467" y="0"/>
                </a:lnTo>
                <a:lnTo order="27">
                  <a:pt x="23467" y="0"/>
                </a:lnTo>
                <a:lnTo order="28">
                  <a:pt x="44979" y="0"/>
                </a:lnTo>
                <a:lnTo order="29">
                  <a:pt x="44979" y="3745"/>
                </a:lnTo>
                <a:lnTo order="30">
                  <a:pt x="44979" y="3745"/>
                </a:lnTo>
                <a:lnTo order="31">
                  <a:pt x="37157" y="3745"/>
                </a:lnTo>
                <a:lnTo order="32">
                  <a:pt x="33245" y="7490"/>
                </a:lnTo>
                <a:lnTo order="33">
                  <a:pt x="31290" y="11235"/>
                </a:lnTo>
                <a:lnTo order="34">
                  <a:pt x="31290" y="20597"/>
                </a:lnTo>
                <a:lnTo order="35">
                  <a:pt x="31290" y="61790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35" name="Shape 35"/>
          <p:cNvSpPr/>
          <p:nvPr/>
        </p:nvSpPr>
        <p:spPr>
          <a:xfrm>
            <a:off x="1639270" y="3580423"/>
            <a:ext cx="97455" cy="82387"/>
          </a:xfrm>
          <a:custGeom>
            <a:avLst/>
            <a:pathLst>
              <a:path w="97455" h="82387">
                <a:moveTo order="1">
                  <a:pt x="82462" y="82387"/>
                </a:moveTo>
                <a:lnTo order="2">
                  <a:pt x="76839" y="82387"/>
                </a:lnTo>
                <a:lnTo order="3">
                  <a:pt x="20615" y="16477"/>
                </a:lnTo>
                <a:lnTo order="4">
                  <a:pt x="20615" y="16477"/>
                </a:lnTo>
                <a:lnTo order="5">
                  <a:pt x="20615" y="60417"/>
                </a:lnTo>
                <a:lnTo order="6">
                  <a:pt x="20615" y="60417"/>
                </a:lnTo>
                <a:lnTo order="7">
                  <a:pt x="20615" y="69571"/>
                </a:lnTo>
                <a:lnTo order="8">
                  <a:pt x="22490" y="73233"/>
                </a:lnTo>
                <a:lnTo order="9">
                  <a:pt x="28112" y="75064"/>
                </a:lnTo>
                <a:lnTo order="10">
                  <a:pt x="33734" y="76895"/>
                </a:lnTo>
                <a:lnTo order="11">
                  <a:pt x="33734" y="80556"/>
                </a:lnTo>
                <a:lnTo order="12">
                  <a:pt x="33734" y="80556"/>
                </a:lnTo>
                <a:lnTo order="13">
                  <a:pt x="16867" y="78726"/>
                </a:lnTo>
                <a:lnTo order="14">
                  <a:pt x="16867" y="78726"/>
                </a:lnTo>
                <a:lnTo order="15">
                  <a:pt x="0" y="80556"/>
                </a:lnTo>
                <a:lnTo order="16">
                  <a:pt x="0" y="76895"/>
                </a:lnTo>
                <a:lnTo order="17">
                  <a:pt x="0" y="76895"/>
                </a:lnTo>
                <a:lnTo order="18">
                  <a:pt x="7497" y="75064"/>
                </a:lnTo>
                <a:lnTo order="19">
                  <a:pt x="11245" y="73233"/>
                </a:lnTo>
                <a:lnTo order="20">
                  <a:pt x="14993" y="69571"/>
                </a:lnTo>
                <a:lnTo order="21">
                  <a:pt x="14993" y="60417"/>
                </a:lnTo>
                <a:lnTo order="22">
                  <a:pt x="14993" y="9154"/>
                </a:lnTo>
                <a:lnTo order="23">
                  <a:pt x="14993" y="9154"/>
                </a:lnTo>
                <a:lnTo order="24">
                  <a:pt x="11245" y="7323"/>
                </a:lnTo>
                <a:lnTo order="25">
                  <a:pt x="9371" y="5492"/>
                </a:lnTo>
                <a:lnTo order="26">
                  <a:pt x="0" y="3662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11245" y="0"/>
                </a:lnTo>
                <a:lnTo order="30">
                  <a:pt x="11245" y="0"/>
                </a:lnTo>
                <a:lnTo order="31">
                  <a:pt x="26238" y="0"/>
                </a:lnTo>
                <a:lnTo order="32">
                  <a:pt x="76839" y="60417"/>
                </a:lnTo>
                <a:lnTo order="33">
                  <a:pt x="76839" y="60417"/>
                </a:lnTo>
                <a:lnTo order="34">
                  <a:pt x="76839" y="18308"/>
                </a:lnTo>
                <a:lnTo order="35">
                  <a:pt x="76839" y="18308"/>
                </a:lnTo>
                <a:lnTo order="36">
                  <a:pt x="76839" y="10985"/>
                </a:lnTo>
                <a:lnTo order="37">
                  <a:pt x="74965" y="5492"/>
                </a:lnTo>
                <a:lnTo order="38">
                  <a:pt x="69343" y="3662"/>
                </a:lnTo>
                <a:lnTo order="39">
                  <a:pt x="63720" y="3662"/>
                </a:lnTo>
                <a:lnTo order="40">
                  <a:pt x="63720" y="0"/>
                </a:lnTo>
                <a:lnTo order="41">
                  <a:pt x="63720" y="0"/>
                </a:lnTo>
                <a:lnTo order="42">
                  <a:pt x="78714" y="0"/>
                </a:lnTo>
                <a:lnTo order="43">
                  <a:pt x="78714" y="0"/>
                </a:lnTo>
                <a:lnTo order="44">
                  <a:pt x="97455" y="0"/>
                </a:lnTo>
                <a:lnTo order="45">
                  <a:pt x="97455" y="3662"/>
                </a:lnTo>
                <a:lnTo order="46">
                  <a:pt x="97455" y="3662"/>
                </a:lnTo>
                <a:lnTo order="47">
                  <a:pt x="89958" y="3662"/>
                </a:lnTo>
                <a:lnTo order="48">
                  <a:pt x="86210" y="5492"/>
                </a:lnTo>
                <a:lnTo order="49">
                  <a:pt x="82462" y="10985"/>
                </a:lnTo>
                <a:lnTo order="50">
                  <a:pt x="82462" y="18308"/>
                </a:lnTo>
                <a:lnTo order="51">
                  <a:pt x="82462" y="8238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36" name="Shape 36"/>
          <p:cNvSpPr/>
          <p:nvPr/>
        </p:nvSpPr>
        <p:spPr>
          <a:xfrm>
            <a:off x="1744222" y="3580423"/>
            <a:ext cx="89958" cy="82387"/>
          </a:xfrm>
          <a:custGeom>
            <a:avLst/>
            <a:pathLst>
              <a:path w="89958" h="82387">
                <a:moveTo order="1">
                  <a:pt x="41231" y="82387"/>
                </a:moveTo>
                <a:lnTo order="2">
                  <a:pt x="13119" y="14647"/>
                </a:lnTo>
                <a:lnTo order="3">
                  <a:pt x="13119" y="14647"/>
                </a:lnTo>
                <a:lnTo order="4">
                  <a:pt x="11245" y="9154"/>
                </a:lnTo>
                <a:lnTo order="5">
                  <a:pt x="7497" y="5492"/>
                </a:lnTo>
                <a:lnTo order="6">
                  <a:pt x="5622" y="3662"/>
                </a:lnTo>
                <a:lnTo order="7">
                  <a:pt x="0" y="3662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20615" y="0"/>
                </a:lnTo>
                <a:lnTo order="11">
                  <a:pt x="20615" y="0"/>
                </a:lnTo>
                <a:lnTo order="12">
                  <a:pt x="41231" y="0"/>
                </a:lnTo>
                <a:lnTo order="13">
                  <a:pt x="41231" y="3662"/>
                </a:lnTo>
                <a:lnTo order="14">
                  <a:pt x="41231" y="3662"/>
                </a:lnTo>
                <a:lnTo order="15">
                  <a:pt x="31860" y="3662"/>
                </a:lnTo>
                <a:lnTo order="16">
                  <a:pt x="29986" y="5492"/>
                </a:lnTo>
                <a:lnTo order="17">
                  <a:pt x="28112" y="7323"/>
                </a:lnTo>
                <a:lnTo order="18">
                  <a:pt x="28112" y="7323"/>
                </a:lnTo>
                <a:lnTo order="19">
                  <a:pt x="29986" y="16477"/>
                </a:lnTo>
                <a:lnTo order="20">
                  <a:pt x="33734" y="23801"/>
                </a:lnTo>
                <a:lnTo order="21">
                  <a:pt x="50602" y="64079"/>
                </a:lnTo>
                <a:lnTo order="22">
                  <a:pt x="65595" y="29293"/>
                </a:lnTo>
                <a:lnTo order="23">
                  <a:pt x="65595" y="29293"/>
                </a:lnTo>
                <a:lnTo order="24">
                  <a:pt x="69343" y="20139"/>
                </a:lnTo>
                <a:lnTo order="25">
                  <a:pt x="73091" y="10985"/>
                </a:lnTo>
                <a:lnTo order="26">
                  <a:pt x="73091" y="10985"/>
                </a:lnTo>
                <a:lnTo order="27">
                  <a:pt x="71217" y="7323"/>
                </a:lnTo>
                <a:lnTo order="28">
                  <a:pt x="69343" y="5492"/>
                </a:lnTo>
                <a:lnTo order="29">
                  <a:pt x="59972" y="3662"/>
                </a:lnTo>
                <a:lnTo order="30">
                  <a:pt x="59972" y="0"/>
                </a:lnTo>
                <a:lnTo order="31">
                  <a:pt x="59972" y="0"/>
                </a:lnTo>
                <a:lnTo order="32">
                  <a:pt x="74965" y="0"/>
                </a:lnTo>
                <a:lnTo order="33">
                  <a:pt x="74965" y="0"/>
                </a:lnTo>
                <a:lnTo order="34">
                  <a:pt x="89958" y="0"/>
                </a:lnTo>
                <a:lnTo order="35">
                  <a:pt x="89958" y="3662"/>
                </a:lnTo>
                <a:lnTo order="36">
                  <a:pt x="89958" y="3662"/>
                </a:lnTo>
                <a:lnTo order="37">
                  <a:pt x="84336" y="5492"/>
                </a:lnTo>
                <a:lnTo order="38">
                  <a:pt x="80588" y="7323"/>
                </a:lnTo>
                <a:lnTo order="39">
                  <a:pt x="76839" y="12816"/>
                </a:lnTo>
                <a:lnTo order="40">
                  <a:pt x="74965" y="18308"/>
                </a:lnTo>
                <a:lnTo order="41">
                  <a:pt x="46853" y="82387"/>
                </a:lnTo>
                <a:lnTo order="42">
                  <a:pt x="41231" y="8238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37" name="Shape 37"/>
          <p:cNvSpPr/>
          <p:nvPr/>
        </p:nvSpPr>
        <p:spPr>
          <a:xfrm>
            <a:off x="1841676" y="3580423"/>
            <a:ext cx="74965" cy="82387"/>
          </a:xfrm>
          <a:custGeom>
            <a:avLst/>
            <a:pathLst>
              <a:path w="74965" h="82387">
                <a:moveTo order="1">
                  <a:pt x="12799" y="20597"/>
                </a:moveTo>
                <a:lnTo order="2">
                  <a:pt x="12799" y="20597"/>
                </a:lnTo>
                <a:lnTo order="3">
                  <a:pt x="12799" y="11235"/>
                </a:lnTo>
                <a:lnTo order="4">
                  <a:pt x="10971" y="7490"/>
                </a:lnTo>
                <a:lnTo order="5">
                  <a:pt x="7314" y="3745"/>
                </a:lnTo>
                <a:lnTo order="6">
                  <a:pt x="0" y="3745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0113" y="0"/>
                </a:lnTo>
                <a:lnTo order="10">
                  <a:pt x="20113" y="0"/>
                </a:lnTo>
                <a:lnTo order="11">
                  <a:pt x="67652" y="0"/>
                </a:lnTo>
                <a:lnTo order="12">
                  <a:pt x="67652" y="20597"/>
                </a:lnTo>
                <a:lnTo order="13">
                  <a:pt x="65823" y="20597"/>
                </a:lnTo>
                <a:lnTo order="14">
                  <a:pt x="65823" y="20597"/>
                </a:lnTo>
                <a:lnTo order="15">
                  <a:pt x="63995" y="11235"/>
                </a:lnTo>
                <a:lnTo order="16">
                  <a:pt x="60338" y="7490"/>
                </a:lnTo>
                <a:lnTo order="17">
                  <a:pt x="54853" y="3745"/>
                </a:lnTo>
                <a:lnTo order="18">
                  <a:pt x="45711" y="3745"/>
                </a:lnTo>
                <a:lnTo order="19">
                  <a:pt x="31083" y="3745"/>
                </a:lnTo>
                <a:lnTo order="20">
                  <a:pt x="31083" y="3745"/>
                </a:lnTo>
                <a:lnTo order="21">
                  <a:pt x="29255" y="3745"/>
                </a:lnTo>
                <a:lnTo order="22">
                  <a:pt x="27426" y="5617"/>
                </a:lnTo>
                <a:lnTo order="23">
                  <a:pt x="27426" y="37449"/>
                </a:lnTo>
                <a:lnTo order="24">
                  <a:pt x="27426" y="37449"/>
                </a:lnTo>
                <a:lnTo order="25">
                  <a:pt x="36568" y="35576"/>
                </a:lnTo>
                <a:lnTo order="26">
                  <a:pt x="43882" y="33704"/>
                </a:lnTo>
                <a:lnTo order="27">
                  <a:pt x="47539" y="28087"/>
                </a:lnTo>
                <a:lnTo order="28">
                  <a:pt x="47539" y="18724"/>
                </a:lnTo>
                <a:lnTo order="29">
                  <a:pt x="51196" y="18724"/>
                </a:lnTo>
                <a:lnTo order="30">
                  <a:pt x="51196" y="18724"/>
                </a:lnTo>
                <a:lnTo order="31">
                  <a:pt x="51196" y="37449"/>
                </a:lnTo>
                <a:lnTo order="32">
                  <a:pt x="51196" y="37449"/>
                </a:lnTo>
                <a:lnTo order="33">
                  <a:pt x="51196" y="56173"/>
                </a:lnTo>
                <a:lnTo order="34">
                  <a:pt x="47539" y="56173"/>
                </a:lnTo>
                <a:lnTo order="35">
                  <a:pt x="47539" y="56173"/>
                </a:lnTo>
                <a:lnTo order="36">
                  <a:pt x="47539" y="46811"/>
                </a:lnTo>
                <a:lnTo order="37">
                  <a:pt x="43882" y="43066"/>
                </a:lnTo>
                <a:lnTo order="38">
                  <a:pt x="38397" y="41194"/>
                </a:lnTo>
                <a:lnTo order="39">
                  <a:pt x="27426" y="41194"/>
                </a:lnTo>
                <a:lnTo order="40">
                  <a:pt x="27426" y="65535"/>
                </a:lnTo>
                <a:lnTo order="41">
                  <a:pt x="27426" y="65535"/>
                </a:lnTo>
                <a:lnTo order="42">
                  <a:pt x="29255" y="71153"/>
                </a:lnTo>
                <a:lnTo order="43">
                  <a:pt x="32912" y="74897"/>
                </a:lnTo>
                <a:lnTo order="44">
                  <a:pt x="36568" y="76770"/>
                </a:lnTo>
                <a:lnTo order="45">
                  <a:pt x="45711" y="78642"/>
                </a:lnTo>
                <a:lnTo order="46">
                  <a:pt x="45711" y="78642"/>
                </a:lnTo>
                <a:lnTo order="47">
                  <a:pt x="54853" y="76770"/>
                </a:lnTo>
                <a:lnTo order="48">
                  <a:pt x="62166" y="74897"/>
                </a:lnTo>
                <a:lnTo order="49">
                  <a:pt x="67652" y="69280"/>
                </a:lnTo>
                <a:lnTo order="50">
                  <a:pt x="71308" y="59918"/>
                </a:lnTo>
                <a:lnTo order="51">
                  <a:pt x="74965" y="59918"/>
                </a:lnTo>
                <a:lnTo order="52">
                  <a:pt x="73137" y="82387"/>
                </a:lnTo>
                <a:lnTo order="53">
                  <a:pt x="73137" y="82387"/>
                </a:lnTo>
                <a:lnTo order="54">
                  <a:pt x="20113" y="80515"/>
                </a:lnTo>
                <a:lnTo order="55">
                  <a:pt x="20113" y="80515"/>
                </a:lnTo>
                <a:lnTo order="56">
                  <a:pt x="0" y="82387"/>
                </a:lnTo>
                <a:lnTo order="57">
                  <a:pt x="0" y="78642"/>
                </a:lnTo>
                <a:lnTo order="58">
                  <a:pt x="0" y="78642"/>
                </a:lnTo>
                <a:lnTo order="59">
                  <a:pt x="7314" y="76770"/>
                </a:lnTo>
                <a:lnTo order="60">
                  <a:pt x="10971" y="74897"/>
                </a:lnTo>
                <a:lnTo order="61">
                  <a:pt x="12799" y="69280"/>
                </a:lnTo>
                <a:lnTo order="62">
                  <a:pt x="12799" y="61790"/>
                </a:lnTo>
                <a:lnTo order="63">
                  <a:pt x="12799" y="20597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38" name="Shape 38"/>
          <p:cNvSpPr/>
          <p:nvPr/>
        </p:nvSpPr>
        <p:spPr>
          <a:xfrm>
            <a:off x="1939131" y="3580423"/>
            <a:ext cx="59972" cy="89877"/>
          </a:xfrm>
          <a:custGeom>
            <a:avLst/>
            <a:pathLst>
              <a:path w="59972" h="89877">
                <a:moveTo order="1">
                  <a:pt x="56103" y="25400"/>
                </a:moveTo>
                <a:lnTo order="2">
                  <a:pt x="52234" y="25400"/>
                </a:lnTo>
                <a:lnTo order="3">
                  <a:pt x="52234" y="25400"/>
                </a:lnTo>
                <a:lnTo order="4">
                  <a:pt x="48365" y="17585"/>
                </a:lnTo>
                <a:lnTo order="5">
                  <a:pt x="44496" y="9769"/>
                </a:lnTo>
                <a:lnTo order="6">
                  <a:pt x="36757" y="5862"/>
                </a:lnTo>
                <a:lnTo order="7">
                  <a:pt x="29019" y="3908"/>
                </a:lnTo>
                <a:lnTo order="8">
                  <a:pt x="29019" y="3908"/>
                </a:lnTo>
                <a:lnTo order="9">
                  <a:pt x="23215" y="3908"/>
                </a:lnTo>
                <a:lnTo order="10">
                  <a:pt x="17411" y="7815"/>
                </a:lnTo>
                <a:lnTo order="11">
                  <a:pt x="15477" y="11723"/>
                </a:lnTo>
                <a:lnTo order="12">
                  <a:pt x="13542" y="17585"/>
                </a:lnTo>
                <a:lnTo order="13">
                  <a:pt x="13542" y="17585"/>
                </a:lnTo>
                <a:lnTo order="14">
                  <a:pt x="15477" y="23446"/>
                </a:lnTo>
                <a:lnTo order="15">
                  <a:pt x="21280" y="27354"/>
                </a:lnTo>
                <a:lnTo order="16">
                  <a:pt x="36757" y="37123"/>
                </a:lnTo>
                <a:lnTo order="17">
                  <a:pt x="46430" y="41031"/>
                </a:lnTo>
                <a:lnTo order="18">
                  <a:pt x="54168" y="46892"/>
                </a:lnTo>
                <a:lnTo order="19">
                  <a:pt x="58038" y="52754"/>
                </a:lnTo>
                <a:lnTo order="20">
                  <a:pt x="59972" y="62523"/>
                </a:lnTo>
                <a:lnTo order="21">
                  <a:pt x="59972" y="62523"/>
                </a:lnTo>
                <a:lnTo order="22">
                  <a:pt x="59972" y="70338"/>
                </a:lnTo>
                <a:lnTo order="23">
                  <a:pt x="58038" y="74246"/>
                </a:lnTo>
                <a:lnTo order="24">
                  <a:pt x="54168" y="80108"/>
                </a:lnTo>
                <a:lnTo order="25">
                  <a:pt x="50299" y="82062"/>
                </a:lnTo>
                <a:lnTo order="26">
                  <a:pt x="40626" y="87923"/>
                </a:lnTo>
                <a:lnTo order="27">
                  <a:pt x="27084" y="89877"/>
                </a:lnTo>
                <a:lnTo order="28">
                  <a:pt x="27084" y="89877"/>
                </a:lnTo>
                <a:lnTo order="29">
                  <a:pt x="15477" y="85969"/>
                </a:lnTo>
                <a:lnTo order="30">
                  <a:pt x="5804" y="82062"/>
                </a:lnTo>
                <a:lnTo order="31">
                  <a:pt x="1935" y="85969"/>
                </a:lnTo>
                <a:lnTo order="32">
                  <a:pt x="0" y="85969"/>
                </a:lnTo>
                <a:lnTo order="33">
                  <a:pt x="0" y="60569"/>
                </a:lnTo>
                <a:lnTo order="34">
                  <a:pt x="3869" y="60569"/>
                </a:lnTo>
                <a:lnTo order="35">
                  <a:pt x="3869" y="60569"/>
                </a:lnTo>
                <a:lnTo order="36">
                  <a:pt x="5804" y="70338"/>
                </a:lnTo>
                <a:lnTo order="37">
                  <a:pt x="11608" y="78154"/>
                </a:lnTo>
                <a:lnTo order="38">
                  <a:pt x="19346" y="84015"/>
                </a:lnTo>
                <a:lnTo order="39">
                  <a:pt x="29019" y="85969"/>
                </a:lnTo>
                <a:lnTo order="40">
                  <a:pt x="29019" y="85969"/>
                </a:lnTo>
                <a:lnTo order="41">
                  <a:pt x="36757" y="84015"/>
                </a:lnTo>
                <a:lnTo order="42">
                  <a:pt x="42561" y="80108"/>
                </a:lnTo>
                <a:lnTo order="43">
                  <a:pt x="46430" y="76200"/>
                </a:lnTo>
                <a:lnTo order="44">
                  <a:pt x="46430" y="68385"/>
                </a:lnTo>
                <a:lnTo order="45">
                  <a:pt x="46430" y="68385"/>
                </a:lnTo>
                <a:lnTo order="46">
                  <a:pt x="44496" y="62523"/>
                </a:lnTo>
                <a:lnTo order="47">
                  <a:pt x="40626" y="56662"/>
                </a:lnTo>
                <a:lnTo order="48">
                  <a:pt x="32888" y="52754"/>
                </a:lnTo>
                <a:lnTo order="49">
                  <a:pt x="23215" y="48846"/>
                </a:lnTo>
                <a:lnTo order="50">
                  <a:pt x="15477" y="44938"/>
                </a:lnTo>
                <a:lnTo order="51">
                  <a:pt x="7738" y="39077"/>
                </a:lnTo>
                <a:lnTo order="52">
                  <a:pt x="1935" y="33215"/>
                </a:lnTo>
                <a:lnTo order="53">
                  <a:pt x="0" y="23446"/>
                </a:lnTo>
                <a:lnTo order="54">
                  <a:pt x="0" y="23446"/>
                </a:lnTo>
                <a:lnTo order="55">
                  <a:pt x="1935" y="13677"/>
                </a:lnTo>
                <a:lnTo order="56">
                  <a:pt x="7738" y="5862"/>
                </a:lnTo>
                <a:lnTo order="57">
                  <a:pt x="15477" y="1954"/>
                </a:lnTo>
                <a:lnTo order="58">
                  <a:pt x="27084" y="0"/>
                </a:lnTo>
                <a:lnTo order="59">
                  <a:pt x="27084" y="0"/>
                </a:lnTo>
                <a:lnTo order="60">
                  <a:pt x="38692" y="1954"/>
                </a:lnTo>
                <a:lnTo order="61">
                  <a:pt x="50299" y="7815"/>
                </a:lnTo>
                <a:lnTo order="62">
                  <a:pt x="52234" y="1954"/>
                </a:lnTo>
                <a:lnTo order="63">
                  <a:pt x="54168" y="1954"/>
                </a:lnTo>
                <a:lnTo order="64">
                  <a:pt x="56103" y="2540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39" name="Shape 39"/>
          <p:cNvSpPr/>
          <p:nvPr/>
        </p:nvSpPr>
        <p:spPr>
          <a:xfrm>
            <a:off x="2006600" y="3580423"/>
            <a:ext cx="89958" cy="82387"/>
          </a:xfrm>
          <a:custGeom>
            <a:avLst/>
            <a:pathLst>
              <a:path w="89958" h="82387">
                <a:moveTo order="1">
                  <a:pt x="52802" y="61790"/>
                </a:moveTo>
                <a:lnTo order="2">
                  <a:pt x="52802" y="61790"/>
                </a:lnTo>
                <a:lnTo order="3">
                  <a:pt x="52802" y="69280"/>
                </a:lnTo>
                <a:lnTo order="4">
                  <a:pt x="54757" y="74897"/>
                </a:lnTo>
                <a:lnTo order="5">
                  <a:pt x="58668" y="76770"/>
                </a:lnTo>
                <a:lnTo order="6">
                  <a:pt x="66491" y="78642"/>
                </a:lnTo>
                <a:lnTo order="7">
                  <a:pt x="66491" y="82387"/>
                </a:lnTo>
                <a:lnTo order="8">
                  <a:pt x="66491" y="82387"/>
                </a:lnTo>
                <a:lnTo order="9">
                  <a:pt x="44979" y="80515"/>
                </a:lnTo>
                <a:lnTo order="10">
                  <a:pt x="44979" y="80515"/>
                </a:lnTo>
                <a:lnTo order="11">
                  <a:pt x="23467" y="82387"/>
                </a:lnTo>
                <a:lnTo order="12">
                  <a:pt x="23467" y="78642"/>
                </a:lnTo>
                <a:lnTo order="13">
                  <a:pt x="23467" y="78642"/>
                </a:lnTo>
                <a:lnTo order="14">
                  <a:pt x="31290" y="76770"/>
                </a:lnTo>
                <a:lnTo order="15">
                  <a:pt x="35201" y="74897"/>
                </a:lnTo>
                <a:lnTo order="16">
                  <a:pt x="37157" y="69280"/>
                </a:lnTo>
                <a:lnTo order="17">
                  <a:pt x="37157" y="61790"/>
                </a:lnTo>
                <a:lnTo order="18">
                  <a:pt x="37157" y="7490"/>
                </a:lnTo>
                <a:lnTo order="19">
                  <a:pt x="37157" y="7490"/>
                </a:lnTo>
                <a:lnTo order="20">
                  <a:pt x="35201" y="5617"/>
                </a:lnTo>
                <a:lnTo order="21">
                  <a:pt x="31290" y="3745"/>
                </a:lnTo>
                <a:lnTo order="22">
                  <a:pt x="21512" y="3745"/>
                </a:lnTo>
                <a:lnTo order="23">
                  <a:pt x="21512" y="3745"/>
                </a:lnTo>
                <a:lnTo order="24">
                  <a:pt x="11734" y="5617"/>
                </a:lnTo>
                <a:lnTo order="25">
                  <a:pt x="7822" y="9362"/>
                </a:lnTo>
                <a:lnTo order="26">
                  <a:pt x="3911" y="13107"/>
                </a:lnTo>
                <a:lnTo order="27">
                  <a:pt x="1956" y="20597"/>
                </a:lnTo>
                <a:lnTo order="28">
                  <a:pt x="0" y="20597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44979" y="0"/>
                </a:lnTo>
                <a:lnTo order="32">
                  <a:pt x="44979" y="0"/>
                </a:lnTo>
                <a:lnTo order="33">
                  <a:pt x="89958" y="0"/>
                </a:lnTo>
                <a:lnTo order="34">
                  <a:pt x="89958" y="20597"/>
                </a:lnTo>
                <a:lnTo order="35">
                  <a:pt x="88003" y="20597"/>
                </a:lnTo>
                <a:lnTo order="36">
                  <a:pt x="88003" y="20597"/>
                </a:lnTo>
                <a:lnTo order="37">
                  <a:pt x="86047" y="13107"/>
                </a:lnTo>
                <a:lnTo order="38">
                  <a:pt x="82136" y="9362"/>
                </a:lnTo>
                <a:lnTo order="39">
                  <a:pt x="78225" y="5617"/>
                </a:lnTo>
                <a:lnTo order="40">
                  <a:pt x="68447" y="3745"/>
                </a:lnTo>
                <a:lnTo order="41">
                  <a:pt x="58668" y="3745"/>
                </a:lnTo>
                <a:lnTo order="42">
                  <a:pt x="58668" y="3745"/>
                </a:lnTo>
                <a:lnTo order="43">
                  <a:pt x="54757" y="5617"/>
                </a:lnTo>
                <a:lnTo order="44">
                  <a:pt x="52802" y="7490"/>
                </a:lnTo>
                <a:lnTo order="45">
                  <a:pt x="52802" y="61790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40" name="Shape 40"/>
          <p:cNvSpPr/>
          <p:nvPr/>
        </p:nvSpPr>
        <p:spPr>
          <a:xfrm>
            <a:off x="2104055" y="3580423"/>
            <a:ext cx="119944" cy="82387"/>
          </a:xfrm>
          <a:custGeom>
            <a:avLst/>
            <a:pathLst>
              <a:path w="119944" h="82387">
                <a:moveTo order="1">
                  <a:pt x="88991" y="0"/>
                </a:moveTo>
                <a:lnTo order="2">
                  <a:pt x="88991" y="0"/>
                </a:lnTo>
                <a:lnTo order="3">
                  <a:pt x="104468" y="0"/>
                </a:lnTo>
                <a:lnTo order="4">
                  <a:pt x="104468" y="0"/>
                </a:lnTo>
                <a:lnTo order="5">
                  <a:pt x="119944" y="0"/>
                </a:lnTo>
                <a:lnTo order="6">
                  <a:pt x="119944" y="3745"/>
                </a:lnTo>
                <a:lnTo order="7">
                  <a:pt x="119944" y="3745"/>
                </a:lnTo>
                <a:lnTo order="8">
                  <a:pt x="114141" y="3745"/>
                </a:lnTo>
                <a:lnTo order="9">
                  <a:pt x="108337" y="5617"/>
                </a:lnTo>
                <a:lnTo order="10">
                  <a:pt x="106402" y="9362"/>
                </a:lnTo>
                <a:lnTo order="11">
                  <a:pt x="104468" y="16852"/>
                </a:lnTo>
                <a:lnTo order="12">
                  <a:pt x="104468" y="61790"/>
                </a:lnTo>
                <a:lnTo order="13">
                  <a:pt x="104468" y="61790"/>
                </a:lnTo>
                <a:lnTo order="14">
                  <a:pt x="104468" y="69280"/>
                </a:lnTo>
                <a:lnTo order="15">
                  <a:pt x="106402" y="74897"/>
                </a:lnTo>
                <a:lnTo order="16">
                  <a:pt x="110272" y="76770"/>
                </a:lnTo>
                <a:lnTo order="17">
                  <a:pt x="118010" y="78642"/>
                </a:lnTo>
                <a:lnTo order="18">
                  <a:pt x="118010" y="82387"/>
                </a:lnTo>
                <a:lnTo order="19">
                  <a:pt x="118010" y="82387"/>
                </a:lnTo>
                <a:lnTo order="20">
                  <a:pt x="96729" y="80515"/>
                </a:lnTo>
                <a:lnTo order="21">
                  <a:pt x="96729" y="80515"/>
                </a:lnTo>
                <a:lnTo order="22">
                  <a:pt x="73514" y="82387"/>
                </a:lnTo>
                <a:lnTo order="23">
                  <a:pt x="73514" y="78642"/>
                </a:lnTo>
                <a:lnTo order="24">
                  <a:pt x="73514" y="78642"/>
                </a:lnTo>
                <a:lnTo order="25">
                  <a:pt x="83187" y="76770"/>
                </a:lnTo>
                <a:lnTo order="26">
                  <a:pt x="87056" y="74897"/>
                </a:lnTo>
                <a:lnTo order="27">
                  <a:pt x="88991" y="69280"/>
                </a:lnTo>
                <a:lnTo order="28">
                  <a:pt x="88991" y="61790"/>
                </a:lnTo>
                <a:lnTo order="29">
                  <a:pt x="88991" y="13107"/>
                </a:lnTo>
                <a:lnTo order="30">
                  <a:pt x="87056" y="13107"/>
                </a:lnTo>
                <a:lnTo order="31">
                  <a:pt x="54168" y="80515"/>
                </a:lnTo>
                <a:lnTo order="32">
                  <a:pt x="52234" y="80515"/>
                </a:lnTo>
                <a:lnTo order="33">
                  <a:pt x="19346" y="11235"/>
                </a:lnTo>
                <a:lnTo order="34">
                  <a:pt x="19346" y="11235"/>
                </a:lnTo>
                <a:lnTo order="35">
                  <a:pt x="19346" y="61790"/>
                </a:lnTo>
                <a:lnTo order="36">
                  <a:pt x="19346" y="61790"/>
                </a:lnTo>
                <a:lnTo order="37">
                  <a:pt x="21280" y="71153"/>
                </a:lnTo>
                <a:lnTo order="38">
                  <a:pt x="23215" y="74897"/>
                </a:lnTo>
                <a:lnTo order="39">
                  <a:pt x="27084" y="76770"/>
                </a:lnTo>
                <a:lnTo order="40">
                  <a:pt x="34823" y="78642"/>
                </a:lnTo>
                <a:lnTo order="41">
                  <a:pt x="34823" y="82387"/>
                </a:lnTo>
                <a:lnTo order="42">
                  <a:pt x="34823" y="82387"/>
                </a:lnTo>
                <a:lnTo order="43">
                  <a:pt x="17411" y="80515"/>
                </a:lnTo>
                <a:lnTo order="44">
                  <a:pt x="17411" y="80515"/>
                </a:lnTo>
                <a:lnTo order="45">
                  <a:pt x="0" y="82387"/>
                </a:lnTo>
                <a:lnTo order="46">
                  <a:pt x="0" y="78642"/>
                </a:lnTo>
                <a:lnTo order="47">
                  <a:pt x="0" y="78642"/>
                </a:lnTo>
                <a:lnTo order="48">
                  <a:pt x="7738" y="76770"/>
                </a:lnTo>
                <a:lnTo order="49">
                  <a:pt x="11608" y="74897"/>
                </a:lnTo>
                <a:lnTo order="50">
                  <a:pt x="13542" y="71153"/>
                </a:lnTo>
                <a:lnTo order="51">
                  <a:pt x="13542" y="61790"/>
                </a:lnTo>
                <a:lnTo order="52">
                  <a:pt x="13542" y="16852"/>
                </a:lnTo>
                <a:lnTo order="53">
                  <a:pt x="13542" y="16852"/>
                </a:lnTo>
                <a:lnTo order="54">
                  <a:pt x="13542" y="9362"/>
                </a:lnTo>
                <a:lnTo order="55">
                  <a:pt x="9673" y="5617"/>
                </a:lnTo>
                <a:lnTo order="56">
                  <a:pt x="5804" y="3745"/>
                </a:lnTo>
                <a:lnTo order="57">
                  <a:pt x="0" y="3745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15477" y="0"/>
                </a:lnTo>
                <a:lnTo order="61">
                  <a:pt x="15477" y="0"/>
                </a:lnTo>
                <a:lnTo order="62">
                  <a:pt x="30953" y="0"/>
                </a:lnTo>
                <a:lnTo order="63">
                  <a:pt x="59972" y="61790"/>
                </a:lnTo>
                <a:lnTo order="64">
                  <a:pt x="88991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41" name="Shape 41"/>
          <p:cNvSpPr/>
          <p:nvPr/>
        </p:nvSpPr>
        <p:spPr>
          <a:xfrm>
            <a:off x="2231496" y="3580423"/>
            <a:ext cx="74965" cy="82387"/>
          </a:xfrm>
          <a:custGeom>
            <a:avLst/>
            <a:pathLst>
              <a:path w="74965" h="82387">
                <a:moveTo order="1">
                  <a:pt x="12799" y="20597"/>
                </a:moveTo>
                <a:lnTo order="2">
                  <a:pt x="12799" y="20597"/>
                </a:lnTo>
                <a:lnTo order="3">
                  <a:pt x="12799" y="11235"/>
                </a:lnTo>
                <a:lnTo order="4">
                  <a:pt x="10971" y="7490"/>
                </a:lnTo>
                <a:lnTo order="5">
                  <a:pt x="7314" y="3745"/>
                </a:lnTo>
                <a:lnTo order="6">
                  <a:pt x="0" y="3745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1941" y="0"/>
                </a:lnTo>
                <a:lnTo order="10">
                  <a:pt x="21941" y="0"/>
                </a:lnTo>
                <a:lnTo order="11">
                  <a:pt x="69480" y="0"/>
                </a:lnTo>
                <a:lnTo order="12">
                  <a:pt x="69480" y="20597"/>
                </a:lnTo>
                <a:lnTo order="13">
                  <a:pt x="65823" y="20597"/>
                </a:lnTo>
                <a:lnTo order="14">
                  <a:pt x="65823" y="20597"/>
                </a:lnTo>
                <a:lnTo order="15">
                  <a:pt x="63995" y="11235"/>
                </a:lnTo>
                <a:lnTo order="16">
                  <a:pt x="60338" y="7490"/>
                </a:lnTo>
                <a:lnTo order="17">
                  <a:pt x="54853" y="3745"/>
                </a:lnTo>
                <a:lnTo order="18">
                  <a:pt x="45711" y="3745"/>
                </a:lnTo>
                <a:lnTo order="19">
                  <a:pt x="31083" y="3745"/>
                </a:lnTo>
                <a:lnTo order="20">
                  <a:pt x="31083" y="3745"/>
                </a:lnTo>
                <a:lnTo order="21">
                  <a:pt x="29255" y="3745"/>
                </a:lnTo>
                <a:lnTo order="22">
                  <a:pt x="29255" y="5617"/>
                </a:lnTo>
                <a:lnTo order="23">
                  <a:pt x="29255" y="37449"/>
                </a:lnTo>
                <a:lnTo order="24">
                  <a:pt x="29255" y="37449"/>
                </a:lnTo>
                <a:lnTo order="25">
                  <a:pt x="38397" y="35576"/>
                </a:lnTo>
                <a:lnTo order="26">
                  <a:pt x="43882" y="33704"/>
                </a:lnTo>
                <a:lnTo order="27">
                  <a:pt x="47539" y="28087"/>
                </a:lnTo>
                <a:lnTo order="28">
                  <a:pt x="49367" y="18724"/>
                </a:lnTo>
                <a:lnTo order="29">
                  <a:pt x="53024" y="18724"/>
                </a:lnTo>
                <a:lnTo order="30">
                  <a:pt x="53024" y="18724"/>
                </a:lnTo>
                <a:lnTo order="31">
                  <a:pt x="51196" y="37449"/>
                </a:lnTo>
                <a:lnTo order="32">
                  <a:pt x="51196" y="37449"/>
                </a:lnTo>
                <a:lnTo order="33">
                  <a:pt x="53024" y="56173"/>
                </a:lnTo>
                <a:lnTo order="34">
                  <a:pt x="49367" y="56173"/>
                </a:lnTo>
                <a:lnTo order="35">
                  <a:pt x="49367" y="56173"/>
                </a:lnTo>
                <a:lnTo order="36">
                  <a:pt x="47539" y="46811"/>
                </a:lnTo>
                <a:lnTo order="37">
                  <a:pt x="43882" y="43066"/>
                </a:lnTo>
                <a:lnTo order="38">
                  <a:pt x="38397" y="41194"/>
                </a:lnTo>
                <a:lnTo order="39">
                  <a:pt x="29255" y="41194"/>
                </a:lnTo>
                <a:lnTo order="40">
                  <a:pt x="29255" y="65535"/>
                </a:lnTo>
                <a:lnTo order="41">
                  <a:pt x="29255" y="65535"/>
                </a:lnTo>
                <a:lnTo order="42">
                  <a:pt x="29255" y="71153"/>
                </a:lnTo>
                <a:lnTo order="43">
                  <a:pt x="32912" y="74897"/>
                </a:lnTo>
                <a:lnTo order="44">
                  <a:pt x="38397" y="76770"/>
                </a:lnTo>
                <a:lnTo order="45">
                  <a:pt x="45711" y="78642"/>
                </a:lnTo>
                <a:lnTo order="46">
                  <a:pt x="45711" y="78642"/>
                </a:lnTo>
                <a:lnTo order="47">
                  <a:pt x="56681" y="76770"/>
                </a:lnTo>
                <a:lnTo order="48">
                  <a:pt x="63995" y="74897"/>
                </a:lnTo>
                <a:lnTo order="49">
                  <a:pt x="69480" y="69280"/>
                </a:lnTo>
                <a:lnTo order="50">
                  <a:pt x="71308" y="59918"/>
                </a:lnTo>
                <a:lnTo order="51">
                  <a:pt x="74965" y="59918"/>
                </a:lnTo>
                <a:lnTo order="52">
                  <a:pt x="74965" y="82387"/>
                </a:lnTo>
                <a:lnTo order="53">
                  <a:pt x="74965" y="82387"/>
                </a:lnTo>
                <a:lnTo order="54">
                  <a:pt x="21941" y="80515"/>
                </a:lnTo>
                <a:lnTo order="55">
                  <a:pt x="21941" y="80515"/>
                </a:lnTo>
                <a:lnTo order="56">
                  <a:pt x="0" y="82387"/>
                </a:lnTo>
                <a:lnTo order="57">
                  <a:pt x="0" y="78642"/>
                </a:lnTo>
                <a:lnTo order="58">
                  <a:pt x="0" y="78642"/>
                </a:lnTo>
                <a:lnTo order="59">
                  <a:pt x="7314" y="76770"/>
                </a:lnTo>
                <a:lnTo order="60">
                  <a:pt x="10971" y="74897"/>
                </a:lnTo>
                <a:lnTo order="61">
                  <a:pt x="12799" y="69280"/>
                </a:lnTo>
                <a:lnTo order="62">
                  <a:pt x="12799" y="61790"/>
                </a:lnTo>
                <a:lnTo order="63">
                  <a:pt x="12799" y="20597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42" name="Shape 42"/>
          <p:cNvSpPr/>
          <p:nvPr/>
        </p:nvSpPr>
        <p:spPr>
          <a:xfrm>
            <a:off x="2321454" y="3580423"/>
            <a:ext cx="97455" cy="82387"/>
          </a:xfrm>
          <a:custGeom>
            <a:avLst/>
            <a:pathLst>
              <a:path w="97455" h="82387">
                <a:moveTo order="1">
                  <a:pt x="82462" y="82387"/>
                </a:moveTo>
                <a:lnTo order="2">
                  <a:pt x="76839" y="82387"/>
                </a:lnTo>
                <a:lnTo order="3">
                  <a:pt x="20615" y="16477"/>
                </a:lnTo>
                <a:lnTo order="4">
                  <a:pt x="20615" y="16477"/>
                </a:lnTo>
                <a:lnTo order="5">
                  <a:pt x="20615" y="60417"/>
                </a:lnTo>
                <a:lnTo order="6">
                  <a:pt x="20615" y="60417"/>
                </a:lnTo>
                <a:lnTo order="7">
                  <a:pt x="20615" y="69571"/>
                </a:lnTo>
                <a:lnTo order="8">
                  <a:pt x="22490" y="73233"/>
                </a:lnTo>
                <a:lnTo order="9">
                  <a:pt x="28112" y="75064"/>
                </a:lnTo>
                <a:lnTo order="10">
                  <a:pt x="35609" y="76895"/>
                </a:lnTo>
                <a:lnTo order="11">
                  <a:pt x="35609" y="80556"/>
                </a:lnTo>
                <a:lnTo order="12">
                  <a:pt x="35609" y="80556"/>
                </a:lnTo>
                <a:lnTo order="13">
                  <a:pt x="16867" y="78726"/>
                </a:lnTo>
                <a:lnTo order="14">
                  <a:pt x="16867" y="78726"/>
                </a:lnTo>
                <a:lnTo order="15">
                  <a:pt x="0" y="80556"/>
                </a:lnTo>
                <a:lnTo order="16">
                  <a:pt x="0" y="76895"/>
                </a:lnTo>
                <a:lnTo order="17">
                  <a:pt x="0" y="76895"/>
                </a:lnTo>
                <a:lnTo order="18">
                  <a:pt x="7497" y="75064"/>
                </a:lnTo>
                <a:lnTo order="19">
                  <a:pt x="13119" y="73233"/>
                </a:lnTo>
                <a:lnTo order="20">
                  <a:pt x="14993" y="69571"/>
                </a:lnTo>
                <a:lnTo order="21">
                  <a:pt x="14993" y="60417"/>
                </a:lnTo>
                <a:lnTo order="22">
                  <a:pt x="14993" y="9154"/>
                </a:lnTo>
                <a:lnTo order="23">
                  <a:pt x="14993" y="9154"/>
                </a:lnTo>
                <a:lnTo order="24">
                  <a:pt x="13119" y="7323"/>
                </a:lnTo>
                <a:lnTo order="25">
                  <a:pt x="9371" y="5492"/>
                </a:lnTo>
                <a:lnTo order="26">
                  <a:pt x="1874" y="3662"/>
                </a:lnTo>
                <a:lnTo order="27">
                  <a:pt x="1874" y="0"/>
                </a:lnTo>
                <a:lnTo order="28">
                  <a:pt x="1874" y="0"/>
                </a:lnTo>
                <a:lnTo order="29">
                  <a:pt x="11245" y="0"/>
                </a:lnTo>
                <a:lnTo order="30">
                  <a:pt x="11245" y="0"/>
                </a:lnTo>
                <a:lnTo order="31">
                  <a:pt x="26238" y="0"/>
                </a:lnTo>
                <a:lnTo order="32">
                  <a:pt x="76839" y="60417"/>
                </a:lnTo>
                <a:lnTo order="33">
                  <a:pt x="76839" y="60417"/>
                </a:lnTo>
                <a:lnTo order="34">
                  <a:pt x="76839" y="18308"/>
                </a:lnTo>
                <a:lnTo order="35">
                  <a:pt x="76839" y="18308"/>
                </a:lnTo>
                <a:lnTo order="36">
                  <a:pt x="76839" y="10985"/>
                </a:lnTo>
                <a:lnTo order="37">
                  <a:pt x="74965" y="5492"/>
                </a:lnTo>
                <a:lnTo order="38">
                  <a:pt x="69343" y="3662"/>
                </a:lnTo>
                <a:lnTo order="39">
                  <a:pt x="63720" y="3662"/>
                </a:lnTo>
                <a:lnTo order="40">
                  <a:pt x="63720" y="0"/>
                </a:lnTo>
                <a:lnTo order="41">
                  <a:pt x="63720" y="0"/>
                </a:lnTo>
                <a:lnTo order="42">
                  <a:pt x="80588" y="0"/>
                </a:lnTo>
                <a:lnTo order="43">
                  <a:pt x="80588" y="0"/>
                </a:lnTo>
                <a:lnTo order="44">
                  <a:pt x="97455" y="0"/>
                </a:lnTo>
                <a:lnTo order="45">
                  <a:pt x="97455" y="3662"/>
                </a:lnTo>
                <a:lnTo order="46">
                  <a:pt x="97455" y="3662"/>
                </a:lnTo>
                <a:lnTo order="47">
                  <a:pt x="89958" y="3662"/>
                </a:lnTo>
                <a:lnTo order="48">
                  <a:pt x="86210" y="5492"/>
                </a:lnTo>
                <a:lnTo order="49">
                  <a:pt x="84336" y="10985"/>
                </a:lnTo>
                <a:lnTo order="50">
                  <a:pt x="82462" y="18308"/>
                </a:lnTo>
                <a:lnTo order="51">
                  <a:pt x="82462" y="8238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43" name="Shape 43"/>
          <p:cNvSpPr/>
          <p:nvPr/>
        </p:nvSpPr>
        <p:spPr>
          <a:xfrm>
            <a:off x="2426406" y="3580423"/>
            <a:ext cx="89958" cy="82387"/>
          </a:xfrm>
          <a:custGeom>
            <a:avLst/>
            <a:pathLst>
              <a:path w="89958" h="82387">
                <a:moveTo order="1">
                  <a:pt x="53592" y="61790"/>
                </a:moveTo>
                <a:lnTo order="2">
                  <a:pt x="53592" y="61790"/>
                </a:lnTo>
                <a:lnTo order="3">
                  <a:pt x="53592" y="69280"/>
                </a:lnTo>
                <a:lnTo order="4">
                  <a:pt x="55506" y="74897"/>
                </a:lnTo>
                <a:lnTo order="5">
                  <a:pt x="59334" y="76770"/>
                </a:lnTo>
                <a:lnTo order="6">
                  <a:pt x="66990" y="78642"/>
                </a:lnTo>
                <a:lnTo order="7">
                  <a:pt x="66990" y="82387"/>
                </a:lnTo>
                <a:lnTo order="8">
                  <a:pt x="66990" y="82387"/>
                </a:lnTo>
                <a:lnTo order="9">
                  <a:pt x="45936" y="80515"/>
                </a:lnTo>
                <a:lnTo order="10">
                  <a:pt x="45936" y="80515"/>
                </a:lnTo>
                <a:lnTo order="11">
                  <a:pt x="22968" y="82387"/>
                </a:lnTo>
                <a:lnTo order="12">
                  <a:pt x="22968" y="78642"/>
                </a:lnTo>
                <a:lnTo order="13">
                  <a:pt x="22968" y="78642"/>
                </a:lnTo>
                <a:lnTo order="14">
                  <a:pt x="30624" y="76770"/>
                </a:lnTo>
                <a:lnTo order="15">
                  <a:pt x="36366" y="74897"/>
                </a:lnTo>
                <a:lnTo order="16">
                  <a:pt x="36366" y="69280"/>
                </a:lnTo>
                <a:lnTo order="17">
                  <a:pt x="38280" y="61790"/>
                </a:lnTo>
                <a:lnTo order="18">
                  <a:pt x="38280" y="7490"/>
                </a:lnTo>
                <a:lnTo order="19">
                  <a:pt x="38280" y="7490"/>
                </a:lnTo>
                <a:lnTo order="20">
                  <a:pt x="36366" y="5617"/>
                </a:lnTo>
                <a:lnTo order="21">
                  <a:pt x="32538" y="3745"/>
                </a:lnTo>
                <a:lnTo order="22">
                  <a:pt x="22968" y="3745"/>
                </a:lnTo>
                <a:lnTo order="23">
                  <a:pt x="22968" y="3745"/>
                </a:lnTo>
                <a:lnTo order="24">
                  <a:pt x="13398" y="5617"/>
                </a:lnTo>
                <a:lnTo order="25">
                  <a:pt x="7656" y="9362"/>
                </a:lnTo>
                <a:lnTo order="26">
                  <a:pt x="5742" y="13107"/>
                </a:lnTo>
                <a:lnTo order="27">
                  <a:pt x="3828" y="20597"/>
                </a:lnTo>
                <a:lnTo order="28">
                  <a:pt x="0" y="20597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45936" y="0"/>
                </a:lnTo>
                <a:lnTo order="32">
                  <a:pt x="45936" y="0"/>
                </a:lnTo>
                <a:lnTo order="33">
                  <a:pt x="89958" y="0"/>
                </a:lnTo>
                <a:lnTo order="34">
                  <a:pt x="89958" y="20597"/>
                </a:lnTo>
                <a:lnTo order="35">
                  <a:pt x="86130" y="20597"/>
                </a:lnTo>
                <a:lnTo order="36">
                  <a:pt x="86130" y="20597"/>
                </a:lnTo>
                <a:lnTo order="37">
                  <a:pt x="86130" y="13107"/>
                </a:lnTo>
                <a:lnTo order="38">
                  <a:pt x="82302" y="9362"/>
                </a:lnTo>
                <a:lnTo order="39">
                  <a:pt x="76560" y="5617"/>
                </a:lnTo>
                <a:lnTo order="40">
                  <a:pt x="68904" y="3745"/>
                </a:lnTo>
                <a:lnTo order="41">
                  <a:pt x="59334" y="3745"/>
                </a:lnTo>
                <a:lnTo order="42">
                  <a:pt x="59334" y="3745"/>
                </a:lnTo>
                <a:lnTo order="43">
                  <a:pt x="55506" y="5617"/>
                </a:lnTo>
                <a:lnTo order="44">
                  <a:pt x="53592" y="7490"/>
                </a:lnTo>
                <a:lnTo order="45">
                  <a:pt x="53592" y="61790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44" name="Shape 44"/>
          <p:cNvSpPr/>
          <p:nvPr/>
        </p:nvSpPr>
        <p:spPr>
          <a:xfrm>
            <a:off x="2568840" y="3580423"/>
            <a:ext cx="97455" cy="89877"/>
          </a:xfrm>
          <a:custGeom>
            <a:avLst/>
            <a:pathLst>
              <a:path w="97455" h="89877">
                <a:moveTo order="1">
                  <a:pt x="76435" y="1954"/>
                </a:moveTo>
                <a:lnTo order="2">
                  <a:pt x="78346" y="1954"/>
                </a:lnTo>
                <a:lnTo order="3">
                  <a:pt x="80257" y="27354"/>
                </a:lnTo>
                <a:lnTo order="4">
                  <a:pt x="76435" y="27354"/>
                </a:lnTo>
                <a:lnTo order="5">
                  <a:pt x="76435" y="27354"/>
                </a:lnTo>
                <a:lnTo order="6">
                  <a:pt x="72613" y="17585"/>
                </a:lnTo>
                <a:lnTo order="7">
                  <a:pt x="66881" y="9769"/>
                </a:lnTo>
                <a:lnTo order="8">
                  <a:pt x="59237" y="5862"/>
                </a:lnTo>
                <a:lnTo order="9">
                  <a:pt x="49683" y="3908"/>
                </a:lnTo>
                <a:lnTo order="10">
                  <a:pt x="49683" y="3908"/>
                </a:lnTo>
                <a:lnTo order="11">
                  <a:pt x="42039" y="3908"/>
                </a:lnTo>
                <a:lnTo order="12">
                  <a:pt x="34396" y="7815"/>
                </a:lnTo>
                <a:lnTo order="13">
                  <a:pt x="28663" y="11723"/>
                </a:lnTo>
                <a:lnTo order="14">
                  <a:pt x="24841" y="17585"/>
                </a:lnTo>
                <a:lnTo order="15">
                  <a:pt x="22931" y="23446"/>
                </a:lnTo>
                <a:lnTo order="16">
                  <a:pt x="21020" y="29308"/>
                </a:lnTo>
                <a:lnTo order="17">
                  <a:pt x="19109" y="44938"/>
                </a:lnTo>
                <a:lnTo order="18">
                  <a:pt x="19109" y="44938"/>
                </a:lnTo>
                <a:lnTo order="19">
                  <a:pt x="21020" y="58615"/>
                </a:lnTo>
                <a:lnTo order="20">
                  <a:pt x="22931" y="66431"/>
                </a:lnTo>
                <a:lnTo order="21">
                  <a:pt x="24841" y="72292"/>
                </a:lnTo>
                <a:lnTo order="22">
                  <a:pt x="28663" y="78154"/>
                </a:lnTo>
                <a:lnTo order="23">
                  <a:pt x="34396" y="82062"/>
                </a:lnTo>
                <a:lnTo order="24">
                  <a:pt x="40128" y="84015"/>
                </a:lnTo>
                <a:lnTo order="25">
                  <a:pt x="47772" y="85969"/>
                </a:lnTo>
                <a:lnTo order="26">
                  <a:pt x="47772" y="85969"/>
                </a:lnTo>
                <a:lnTo order="27">
                  <a:pt x="59237" y="84015"/>
                </a:lnTo>
                <a:lnTo order="28">
                  <a:pt x="64970" y="80108"/>
                </a:lnTo>
                <a:lnTo order="29">
                  <a:pt x="68792" y="72292"/>
                </a:lnTo>
                <a:lnTo order="30">
                  <a:pt x="70703" y="66431"/>
                </a:lnTo>
                <a:lnTo order="31">
                  <a:pt x="70703" y="66431"/>
                </a:lnTo>
                <a:lnTo order="32">
                  <a:pt x="68792" y="60569"/>
                </a:lnTo>
                <a:lnTo order="33">
                  <a:pt x="66881" y="58615"/>
                </a:lnTo>
                <a:lnTo order="34">
                  <a:pt x="63059" y="56662"/>
                </a:lnTo>
                <a:lnTo order="35">
                  <a:pt x="57326" y="54708"/>
                </a:lnTo>
                <a:lnTo order="36">
                  <a:pt x="57326" y="52754"/>
                </a:lnTo>
                <a:lnTo order="37">
                  <a:pt x="97455" y="52754"/>
                </a:lnTo>
                <a:lnTo order="38">
                  <a:pt x="97455" y="54708"/>
                </a:lnTo>
                <a:lnTo order="39">
                  <a:pt x="97455" y="54708"/>
                </a:lnTo>
                <a:lnTo order="40">
                  <a:pt x="91722" y="56662"/>
                </a:lnTo>
                <a:lnTo order="41">
                  <a:pt x="87900" y="56662"/>
                </a:lnTo>
                <a:lnTo order="42">
                  <a:pt x="85990" y="60569"/>
                </a:lnTo>
                <a:lnTo order="43">
                  <a:pt x="85990" y="64477"/>
                </a:lnTo>
                <a:lnTo order="44">
                  <a:pt x="85990" y="78154"/>
                </a:lnTo>
                <a:lnTo order="45">
                  <a:pt x="85990" y="78154"/>
                </a:lnTo>
                <a:lnTo order="46">
                  <a:pt x="76435" y="80108"/>
                </a:lnTo>
                <a:lnTo order="47">
                  <a:pt x="66881" y="84015"/>
                </a:lnTo>
                <a:lnTo order="48">
                  <a:pt x="57326" y="87923"/>
                </a:lnTo>
                <a:lnTo order="49">
                  <a:pt x="45861" y="89877"/>
                </a:lnTo>
                <a:lnTo order="50">
                  <a:pt x="45861" y="89877"/>
                </a:lnTo>
                <a:lnTo order="51">
                  <a:pt x="34396" y="87923"/>
                </a:lnTo>
                <a:lnTo order="52">
                  <a:pt x="24841" y="85969"/>
                </a:lnTo>
                <a:lnTo order="53">
                  <a:pt x="19109" y="82062"/>
                </a:lnTo>
                <a:lnTo order="54">
                  <a:pt x="11465" y="78154"/>
                </a:lnTo>
                <a:lnTo order="55">
                  <a:pt x="7644" y="70338"/>
                </a:lnTo>
                <a:lnTo order="56">
                  <a:pt x="3822" y="64477"/>
                </a:lnTo>
                <a:lnTo order="57">
                  <a:pt x="1911" y="54708"/>
                </a:lnTo>
                <a:lnTo order="58">
                  <a:pt x="0" y="44938"/>
                </a:lnTo>
                <a:lnTo order="59">
                  <a:pt x="0" y="44938"/>
                </a:lnTo>
                <a:lnTo order="60">
                  <a:pt x="1911" y="35169"/>
                </a:lnTo>
                <a:lnTo order="61">
                  <a:pt x="3822" y="25400"/>
                </a:lnTo>
                <a:lnTo order="62">
                  <a:pt x="7644" y="19538"/>
                </a:lnTo>
                <a:lnTo order="63">
                  <a:pt x="13376" y="11723"/>
                </a:lnTo>
                <a:lnTo order="64">
                  <a:pt x="21020" y="7815"/>
                </a:lnTo>
                <a:lnTo order="65">
                  <a:pt x="28663" y="3908"/>
                </a:lnTo>
                <a:lnTo order="66">
                  <a:pt x="36307" y="0"/>
                </a:lnTo>
                <a:lnTo order="67">
                  <a:pt x="47772" y="0"/>
                </a:lnTo>
                <a:lnTo order="68">
                  <a:pt x="47772" y="0"/>
                </a:lnTo>
                <a:lnTo order="69">
                  <a:pt x="61148" y="1954"/>
                </a:lnTo>
                <a:lnTo order="70">
                  <a:pt x="74524" y="5862"/>
                </a:lnTo>
                <a:lnTo order="71">
                  <a:pt x="76435" y="195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45" name="Shape 45"/>
          <p:cNvSpPr/>
          <p:nvPr/>
        </p:nvSpPr>
        <p:spPr>
          <a:xfrm>
            <a:off x="2666294" y="3580423"/>
            <a:ext cx="89958" cy="82387"/>
          </a:xfrm>
          <a:custGeom>
            <a:avLst/>
            <a:pathLst>
              <a:path w="89958" h="82387">
                <a:moveTo order="1">
                  <a:pt x="13119" y="20597"/>
                </a:moveTo>
                <a:lnTo order="2">
                  <a:pt x="13119" y="20597"/>
                </a:lnTo>
                <a:lnTo order="3">
                  <a:pt x="13119" y="11235"/>
                </a:lnTo>
                <a:lnTo order="4">
                  <a:pt x="11245" y="7490"/>
                </a:lnTo>
                <a:lnTo order="5">
                  <a:pt x="7497" y="3745"/>
                </a:lnTo>
                <a:lnTo order="6">
                  <a:pt x="0" y="3745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0615" y="0"/>
                </a:lnTo>
                <a:lnTo order="10">
                  <a:pt x="20615" y="0"/>
                </a:lnTo>
                <a:lnTo order="11">
                  <a:pt x="43105" y="0"/>
                </a:lnTo>
                <a:lnTo order="12">
                  <a:pt x="43105" y="0"/>
                </a:lnTo>
                <a:lnTo order="13">
                  <a:pt x="56224" y="1872"/>
                </a:lnTo>
                <a:lnTo order="14">
                  <a:pt x="65595" y="3745"/>
                </a:lnTo>
                <a:lnTo order="15">
                  <a:pt x="71217" y="7490"/>
                </a:lnTo>
                <a:lnTo order="16">
                  <a:pt x="73091" y="11235"/>
                </a:lnTo>
                <a:lnTo order="17">
                  <a:pt x="74965" y="14979"/>
                </a:lnTo>
                <a:lnTo order="18">
                  <a:pt x="76839" y="20597"/>
                </a:lnTo>
                <a:lnTo order="19">
                  <a:pt x="76839" y="20597"/>
                </a:lnTo>
                <a:lnTo order="20">
                  <a:pt x="74965" y="28087"/>
                </a:lnTo>
                <a:lnTo order="21">
                  <a:pt x="69343" y="35576"/>
                </a:lnTo>
                <a:lnTo order="22">
                  <a:pt x="61846" y="39321"/>
                </a:lnTo>
                <a:lnTo order="23">
                  <a:pt x="50602" y="41194"/>
                </a:lnTo>
                <a:lnTo order="24">
                  <a:pt x="73091" y="67408"/>
                </a:lnTo>
                <a:lnTo order="25">
                  <a:pt x="73091" y="67408"/>
                </a:lnTo>
                <a:lnTo order="26">
                  <a:pt x="80588" y="74897"/>
                </a:lnTo>
                <a:lnTo order="27">
                  <a:pt x="84336" y="76770"/>
                </a:lnTo>
                <a:lnTo order="28">
                  <a:pt x="89958" y="78642"/>
                </a:lnTo>
                <a:lnTo order="29">
                  <a:pt x="89958" y="82387"/>
                </a:lnTo>
                <a:lnTo order="30">
                  <a:pt x="89958" y="82387"/>
                </a:lnTo>
                <a:lnTo order="31">
                  <a:pt x="78714" y="80515"/>
                </a:lnTo>
                <a:lnTo order="32">
                  <a:pt x="78714" y="80515"/>
                </a:lnTo>
                <a:lnTo order="33">
                  <a:pt x="65595" y="82387"/>
                </a:lnTo>
                <a:lnTo order="34">
                  <a:pt x="39357" y="48683"/>
                </a:lnTo>
                <a:lnTo order="35">
                  <a:pt x="39357" y="48683"/>
                </a:lnTo>
                <a:lnTo order="36">
                  <a:pt x="35609" y="44938"/>
                </a:lnTo>
                <a:lnTo order="37">
                  <a:pt x="28112" y="44938"/>
                </a:lnTo>
                <a:lnTo order="38">
                  <a:pt x="28112" y="61790"/>
                </a:lnTo>
                <a:lnTo order="39">
                  <a:pt x="28112" y="61790"/>
                </a:lnTo>
                <a:lnTo order="40">
                  <a:pt x="28112" y="69280"/>
                </a:lnTo>
                <a:lnTo order="41">
                  <a:pt x="29986" y="74897"/>
                </a:lnTo>
                <a:lnTo order="42">
                  <a:pt x="33734" y="76770"/>
                </a:lnTo>
                <a:lnTo order="43">
                  <a:pt x="43105" y="78642"/>
                </a:lnTo>
                <a:lnTo order="44">
                  <a:pt x="43105" y="82387"/>
                </a:lnTo>
                <a:lnTo order="45">
                  <a:pt x="43105" y="82387"/>
                </a:lnTo>
                <a:lnTo order="46">
                  <a:pt x="20615" y="80515"/>
                </a:lnTo>
                <a:lnTo order="47">
                  <a:pt x="20615" y="80515"/>
                </a:lnTo>
                <a:lnTo order="48">
                  <a:pt x="0" y="82387"/>
                </a:lnTo>
                <a:lnTo order="49">
                  <a:pt x="0" y="78642"/>
                </a:lnTo>
                <a:lnTo order="50">
                  <a:pt x="0" y="78642"/>
                </a:lnTo>
                <a:lnTo order="51">
                  <a:pt x="7497" y="76770"/>
                </a:lnTo>
                <a:lnTo order="52">
                  <a:pt x="11245" y="74897"/>
                </a:lnTo>
                <a:lnTo order="53">
                  <a:pt x="13119" y="69280"/>
                </a:lnTo>
                <a:lnTo order="54">
                  <a:pt x="13119" y="61790"/>
                </a:lnTo>
                <a:lnTo order="55">
                  <a:pt x="13119" y="20597"/>
                </a:lnTo>
                <a:close order="56"/>
                <a:moveTo order="57">
                  <a:pt x="28112" y="41194"/>
                </a:moveTo>
                <a:lnTo order="58">
                  <a:pt x="35609" y="41194"/>
                </a:lnTo>
                <a:lnTo order="59">
                  <a:pt x="35609" y="41194"/>
                </a:lnTo>
                <a:lnTo order="60">
                  <a:pt x="44979" y="39321"/>
                </a:lnTo>
                <a:lnTo order="61">
                  <a:pt x="52476" y="35576"/>
                </a:lnTo>
                <a:lnTo order="62">
                  <a:pt x="56224" y="29959"/>
                </a:lnTo>
                <a:lnTo order="63">
                  <a:pt x="58098" y="22469"/>
                </a:lnTo>
                <a:lnTo order="64">
                  <a:pt x="58098" y="22469"/>
                </a:lnTo>
                <a:lnTo order="65">
                  <a:pt x="56224" y="14979"/>
                </a:lnTo>
                <a:lnTo order="66">
                  <a:pt x="52476" y="7490"/>
                </a:lnTo>
                <a:lnTo order="67">
                  <a:pt x="46853" y="5617"/>
                </a:lnTo>
                <a:lnTo order="68">
                  <a:pt x="37483" y="3745"/>
                </a:lnTo>
                <a:lnTo order="69">
                  <a:pt x="37483" y="3745"/>
                </a:lnTo>
                <a:lnTo order="70">
                  <a:pt x="31860" y="3745"/>
                </a:lnTo>
                <a:lnTo order="71">
                  <a:pt x="29986" y="5617"/>
                </a:lnTo>
                <a:lnTo order="72">
                  <a:pt x="28112" y="7490"/>
                </a:lnTo>
                <a:lnTo order="73">
                  <a:pt x="28112" y="41194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46" name="Shape 46"/>
          <p:cNvSpPr/>
          <p:nvPr/>
        </p:nvSpPr>
        <p:spPr>
          <a:xfrm>
            <a:off x="2763749" y="3580423"/>
            <a:ext cx="89958" cy="89877"/>
          </a:xfrm>
          <a:custGeom>
            <a:avLst/>
            <a:pathLst>
              <a:path w="89958" h="89877">
                <a:moveTo order="1">
                  <a:pt x="44061" y="89877"/>
                </a:moveTo>
                <a:lnTo order="2">
                  <a:pt x="44061" y="89877"/>
                </a:lnTo>
                <a:lnTo order="3">
                  <a:pt x="34882" y="87923"/>
                </a:lnTo>
                <a:lnTo order="4">
                  <a:pt x="25702" y="85969"/>
                </a:lnTo>
                <a:lnTo order="5">
                  <a:pt x="18359" y="82062"/>
                </a:lnTo>
                <a:lnTo order="6">
                  <a:pt x="12851" y="76200"/>
                </a:lnTo>
                <a:lnTo order="7">
                  <a:pt x="7344" y="70338"/>
                </a:lnTo>
                <a:lnTo order="8">
                  <a:pt x="3672" y="62523"/>
                </a:lnTo>
                <a:lnTo order="9">
                  <a:pt x="1836" y="54708"/>
                </a:lnTo>
                <a:lnTo order="10">
                  <a:pt x="0" y="44938"/>
                </a:lnTo>
                <a:lnTo order="11">
                  <a:pt x="0" y="44938"/>
                </a:lnTo>
                <a:lnTo order="12">
                  <a:pt x="1836" y="35169"/>
                </a:lnTo>
                <a:lnTo order="13">
                  <a:pt x="3672" y="27354"/>
                </a:lnTo>
                <a:lnTo order="14">
                  <a:pt x="7344" y="19538"/>
                </a:lnTo>
                <a:lnTo order="15">
                  <a:pt x="12851" y="11723"/>
                </a:lnTo>
                <a:lnTo order="16">
                  <a:pt x="18359" y="7815"/>
                </a:lnTo>
                <a:lnTo order="17">
                  <a:pt x="25702" y="3908"/>
                </a:lnTo>
                <a:lnTo order="18">
                  <a:pt x="34882" y="0"/>
                </a:lnTo>
                <a:lnTo order="19">
                  <a:pt x="44061" y="0"/>
                </a:lnTo>
                <a:lnTo order="20">
                  <a:pt x="44061" y="0"/>
                </a:lnTo>
                <a:lnTo order="21">
                  <a:pt x="55077" y="0"/>
                </a:lnTo>
                <a:lnTo order="22">
                  <a:pt x="64256" y="3908"/>
                </a:lnTo>
                <a:lnTo order="23">
                  <a:pt x="71599" y="7815"/>
                </a:lnTo>
                <a:lnTo order="24">
                  <a:pt x="77107" y="11723"/>
                </a:lnTo>
                <a:lnTo order="25">
                  <a:pt x="82615" y="19538"/>
                </a:lnTo>
                <a:lnTo order="26">
                  <a:pt x="86287" y="27354"/>
                </a:lnTo>
                <a:lnTo order="27">
                  <a:pt x="88122" y="35169"/>
                </a:lnTo>
                <a:lnTo order="28">
                  <a:pt x="89958" y="44938"/>
                </a:lnTo>
                <a:lnTo order="29">
                  <a:pt x="89958" y="44938"/>
                </a:lnTo>
                <a:lnTo order="30">
                  <a:pt x="88122" y="54708"/>
                </a:lnTo>
                <a:lnTo order="31">
                  <a:pt x="86287" y="62523"/>
                </a:lnTo>
                <a:lnTo order="32">
                  <a:pt x="82615" y="70338"/>
                </a:lnTo>
                <a:lnTo order="33">
                  <a:pt x="77107" y="76200"/>
                </a:lnTo>
                <a:lnTo order="34">
                  <a:pt x="71599" y="82062"/>
                </a:lnTo>
                <a:lnTo order="35">
                  <a:pt x="64256" y="85969"/>
                </a:lnTo>
                <a:lnTo order="36">
                  <a:pt x="55077" y="87923"/>
                </a:lnTo>
                <a:lnTo order="37">
                  <a:pt x="44061" y="89877"/>
                </a:lnTo>
                <a:lnTo order="38">
                  <a:pt x="44061" y="89877"/>
                </a:lnTo>
                <a:close order="39"/>
                <a:moveTo order="40">
                  <a:pt x="44061" y="3908"/>
                </a:moveTo>
                <a:lnTo order="41">
                  <a:pt x="44061" y="3908"/>
                </a:lnTo>
                <a:lnTo order="42">
                  <a:pt x="38554" y="3908"/>
                </a:lnTo>
                <a:lnTo order="43">
                  <a:pt x="31210" y="7815"/>
                </a:lnTo>
                <a:lnTo order="44">
                  <a:pt x="27538" y="11723"/>
                </a:lnTo>
                <a:lnTo order="45">
                  <a:pt x="23866" y="15631"/>
                </a:lnTo>
                <a:lnTo order="46">
                  <a:pt x="18359" y="29308"/>
                </a:lnTo>
                <a:lnTo order="47">
                  <a:pt x="18359" y="44938"/>
                </a:lnTo>
                <a:lnTo order="48">
                  <a:pt x="18359" y="44938"/>
                </a:lnTo>
                <a:lnTo order="49">
                  <a:pt x="18359" y="60569"/>
                </a:lnTo>
                <a:lnTo order="50">
                  <a:pt x="23866" y="72292"/>
                </a:lnTo>
                <a:lnTo order="51">
                  <a:pt x="27538" y="78154"/>
                </a:lnTo>
                <a:lnTo order="52">
                  <a:pt x="31210" y="82062"/>
                </a:lnTo>
                <a:lnTo order="53">
                  <a:pt x="38554" y="84015"/>
                </a:lnTo>
                <a:lnTo order="54">
                  <a:pt x="44061" y="85969"/>
                </a:lnTo>
                <a:lnTo order="55">
                  <a:pt x="44061" y="85969"/>
                </a:lnTo>
                <a:lnTo order="56">
                  <a:pt x="51405" y="84015"/>
                </a:lnTo>
                <a:lnTo order="57">
                  <a:pt x="56912" y="82062"/>
                </a:lnTo>
                <a:lnTo order="58">
                  <a:pt x="62420" y="78154"/>
                </a:lnTo>
                <a:lnTo order="59">
                  <a:pt x="66092" y="72292"/>
                </a:lnTo>
                <a:lnTo order="60">
                  <a:pt x="67928" y="66431"/>
                </a:lnTo>
                <a:lnTo order="61">
                  <a:pt x="69764" y="60569"/>
                </a:lnTo>
                <a:lnTo order="62">
                  <a:pt x="71599" y="44938"/>
                </a:lnTo>
                <a:lnTo order="63">
                  <a:pt x="71599" y="44938"/>
                </a:lnTo>
                <a:lnTo order="64">
                  <a:pt x="69764" y="29308"/>
                </a:lnTo>
                <a:lnTo order="65">
                  <a:pt x="67928" y="23446"/>
                </a:lnTo>
                <a:lnTo order="66">
                  <a:pt x="66092" y="15631"/>
                </a:lnTo>
                <a:lnTo order="67">
                  <a:pt x="62420" y="11723"/>
                </a:lnTo>
                <a:lnTo order="68">
                  <a:pt x="56912" y="7815"/>
                </a:lnTo>
                <a:lnTo order="69">
                  <a:pt x="51405" y="3908"/>
                </a:lnTo>
                <a:lnTo order="70">
                  <a:pt x="44061" y="3908"/>
                </a:lnTo>
                <a:lnTo order="71">
                  <a:pt x="44061" y="3908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47" name="Shape 47"/>
          <p:cNvSpPr/>
          <p:nvPr/>
        </p:nvSpPr>
        <p:spPr>
          <a:xfrm>
            <a:off x="2861204" y="3580423"/>
            <a:ext cx="97455" cy="82387"/>
          </a:xfrm>
          <a:custGeom>
            <a:avLst/>
            <a:pathLst>
              <a:path w="97455" h="82387">
                <a:moveTo order="1">
                  <a:pt x="14993" y="20139"/>
                </a:moveTo>
                <a:lnTo order="2">
                  <a:pt x="14993" y="20139"/>
                </a:lnTo>
                <a:lnTo order="3">
                  <a:pt x="13119" y="10985"/>
                </a:lnTo>
                <a:lnTo order="4">
                  <a:pt x="13119" y="7323"/>
                </a:lnTo>
                <a:lnTo order="5">
                  <a:pt x="7497" y="3662"/>
                </a:lnTo>
                <a:lnTo order="6">
                  <a:pt x="0" y="3662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2490" y="0"/>
                </a:lnTo>
                <a:lnTo order="10">
                  <a:pt x="22490" y="0"/>
                </a:lnTo>
                <a:lnTo order="11">
                  <a:pt x="43105" y="0"/>
                </a:lnTo>
                <a:lnTo order="12">
                  <a:pt x="43105" y="3662"/>
                </a:lnTo>
                <a:lnTo order="13">
                  <a:pt x="43105" y="3662"/>
                </a:lnTo>
                <a:lnTo order="14">
                  <a:pt x="35609" y="3662"/>
                </a:lnTo>
                <a:lnTo order="15">
                  <a:pt x="31860" y="7323"/>
                </a:lnTo>
                <a:lnTo order="16">
                  <a:pt x="29986" y="10985"/>
                </a:lnTo>
                <a:lnTo order="17">
                  <a:pt x="29986" y="20139"/>
                </a:lnTo>
                <a:lnTo order="18">
                  <a:pt x="29986" y="54925"/>
                </a:lnTo>
                <a:lnTo order="19">
                  <a:pt x="29986" y="54925"/>
                </a:lnTo>
                <a:lnTo order="20">
                  <a:pt x="31860" y="64079"/>
                </a:lnTo>
                <a:lnTo order="21">
                  <a:pt x="35609" y="69571"/>
                </a:lnTo>
                <a:lnTo order="22">
                  <a:pt x="41231" y="75064"/>
                </a:lnTo>
                <a:lnTo order="23">
                  <a:pt x="52476" y="76895"/>
                </a:lnTo>
                <a:lnTo order="24">
                  <a:pt x="52476" y="76895"/>
                </a:lnTo>
                <a:lnTo order="25">
                  <a:pt x="63720" y="75064"/>
                </a:lnTo>
                <a:lnTo order="26">
                  <a:pt x="67469" y="73233"/>
                </a:lnTo>
                <a:lnTo order="27">
                  <a:pt x="71217" y="69571"/>
                </a:lnTo>
                <a:lnTo order="28">
                  <a:pt x="76839" y="62248"/>
                </a:lnTo>
                <a:lnTo order="29">
                  <a:pt x="78714" y="51263"/>
                </a:lnTo>
                <a:lnTo order="30">
                  <a:pt x="78714" y="18308"/>
                </a:lnTo>
                <a:lnTo order="31">
                  <a:pt x="78714" y="18308"/>
                </a:lnTo>
                <a:lnTo order="32">
                  <a:pt x="76839" y="10985"/>
                </a:lnTo>
                <a:lnTo order="33">
                  <a:pt x="74965" y="5492"/>
                </a:lnTo>
                <a:lnTo order="34">
                  <a:pt x="71217" y="3662"/>
                </a:lnTo>
                <a:lnTo order="35">
                  <a:pt x="63720" y="3662"/>
                </a:lnTo>
                <a:lnTo order="36">
                  <a:pt x="63720" y="0"/>
                </a:lnTo>
                <a:lnTo order="37">
                  <a:pt x="63720" y="0"/>
                </a:lnTo>
                <a:lnTo order="38">
                  <a:pt x="80588" y="0"/>
                </a:lnTo>
                <a:lnTo order="39">
                  <a:pt x="80588" y="0"/>
                </a:lnTo>
                <a:lnTo order="40">
                  <a:pt x="97455" y="0"/>
                </a:lnTo>
                <a:lnTo order="41">
                  <a:pt x="97455" y="3662"/>
                </a:lnTo>
                <a:lnTo order="42">
                  <a:pt x="97455" y="3662"/>
                </a:lnTo>
                <a:lnTo order="43">
                  <a:pt x="89958" y="3662"/>
                </a:lnTo>
                <a:lnTo order="44">
                  <a:pt x="86210" y="5492"/>
                </a:lnTo>
                <a:lnTo order="45">
                  <a:pt x="84336" y="10985"/>
                </a:lnTo>
                <a:lnTo order="46">
                  <a:pt x="82462" y="18308"/>
                </a:lnTo>
                <a:lnTo order="47">
                  <a:pt x="82462" y="49432"/>
                </a:lnTo>
                <a:lnTo order="48">
                  <a:pt x="82462" y="49432"/>
                </a:lnTo>
                <a:lnTo order="49">
                  <a:pt x="80588" y="64079"/>
                </a:lnTo>
                <a:lnTo order="50">
                  <a:pt x="78714" y="69571"/>
                </a:lnTo>
                <a:lnTo order="51">
                  <a:pt x="74965" y="73233"/>
                </a:lnTo>
                <a:lnTo order="52">
                  <a:pt x="71217" y="76895"/>
                </a:lnTo>
                <a:lnTo order="53">
                  <a:pt x="63720" y="78726"/>
                </a:lnTo>
                <a:lnTo order="54">
                  <a:pt x="58098" y="80556"/>
                </a:lnTo>
                <a:lnTo order="55">
                  <a:pt x="48727" y="82387"/>
                </a:lnTo>
                <a:lnTo order="56">
                  <a:pt x="48727" y="82387"/>
                </a:lnTo>
                <a:lnTo order="57">
                  <a:pt x="33734" y="80556"/>
                </a:lnTo>
                <a:lnTo order="58">
                  <a:pt x="28112" y="76895"/>
                </a:lnTo>
                <a:lnTo order="59">
                  <a:pt x="22490" y="75064"/>
                </a:lnTo>
                <a:lnTo order="60">
                  <a:pt x="18741" y="71402"/>
                </a:lnTo>
                <a:lnTo order="61">
                  <a:pt x="16867" y="65910"/>
                </a:lnTo>
                <a:lnTo order="62">
                  <a:pt x="14993" y="60417"/>
                </a:lnTo>
                <a:lnTo order="63">
                  <a:pt x="14993" y="54925"/>
                </a:lnTo>
                <a:lnTo order="64">
                  <a:pt x="14993" y="20139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48" name="Shape 48"/>
          <p:cNvSpPr/>
          <p:nvPr/>
        </p:nvSpPr>
        <p:spPr>
          <a:xfrm>
            <a:off x="2966156" y="3580423"/>
            <a:ext cx="74965" cy="82387"/>
          </a:xfrm>
          <a:custGeom>
            <a:avLst/>
            <a:pathLst>
              <a:path w="74965" h="82387">
                <a:moveTo order="1">
                  <a:pt x="27426" y="61790"/>
                </a:moveTo>
                <a:lnTo order="2">
                  <a:pt x="27426" y="61790"/>
                </a:lnTo>
                <a:lnTo order="3">
                  <a:pt x="29255" y="69280"/>
                </a:lnTo>
                <a:lnTo order="4">
                  <a:pt x="29255" y="74897"/>
                </a:lnTo>
                <a:lnTo order="5">
                  <a:pt x="34740" y="76770"/>
                </a:lnTo>
                <a:lnTo order="6">
                  <a:pt x="42054" y="78642"/>
                </a:lnTo>
                <a:lnTo order="7">
                  <a:pt x="42054" y="82387"/>
                </a:lnTo>
                <a:lnTo order="8">
                  <a:pt x="42054" y="82387"/>
                </a:lnTo>
                <a:lnTo order="9">
                  <a:pt x="20113" y="80515"/>
                </a:lnTo>
                <a:lnTo order="10">
                  <a:pt x="20113" y="80515"/>
                </a:lnTo>
                <a:lnTo order="11">
                  <a:pt x="0" y="82387"/>
                </a:lnTo>
                <a:lnTo order="12">
                  <a:pt x="0" y="78642"/>
                </a:lnTo>
                <a:lnTo order="13">
                  <a:pt x="0" y="78642"/>
                </a:lnTo>
                <a:lnTo order="14">
                  <a:pt x="7314" y="76770"/>
                </a:lnTo>
                <a:lnTo order="15">
                  <a:pt x="10971" y="74897"/>
                </a:lnTo>
                <a:lnTo order="16">
                  <a:pt x="12799" y="69280"/>
                </a:lnTo>
                <a:lnTo order="17">
                  <a:pt x="12799" y="61790"/>
                </a:lnTo>
                <a:lnTo order="18">
                  <a:pt x="12799" y="20597"/>
                </a:lnTo>
                <a:lnTo order="19">
                  <a:pt x="12799" y="20597"/>
                </a:lnTo>
                <a:lnTo order="20">
                  <a:pt x="12799" y="11235"/>
                </a:lnTo>
                <a:lnTo order="21">
                  <a:pt x="10971" y="7490"/>
                </a:lnTo>
                <a:lnTo order="22">
                  <a:pt x="7314" y="3745"/>
                </a:lnTo>
                <a:lnTo order="23">
                  <a:pt x="0" y="3745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20113" y="0"/>
                </a:lnTo>
                <a:lnTo order="27">
                  <a:pt x="20113" y="0"/>
                </a:lnTo>
                <a:lnTo order="28">
                  <a:pt x="42054" y="0"/>
                </a:lnTo>
                <a:lnTo order="29">
                  <a:pt x="42054" y="0"/>
                </a:lnTo>
                <a:lnTo order="30">
                  <a:pt x="54853" y="1872"/>
                </a:lnTo>
                <a:lnTo order="31">
                  <a:pt x="65823" y="5617"/>
                </a:lnTo>
                <a:lnTo order="32">
                  <a:pt x="69480" y="7490"/>
                </a:lnTo>
                <a:lnTo order="33">
                  <a:pt x="71308" y="11235"/>
                </a:lnTo>
                <a:lnTo order="34">
                  <a:pt x="74965" y="16852"/>
                </a:lnTo>
                <a:lnTo order="35">
                  <a:pt x="74965" y="22469"/>
                </a:lnTo>
                <a:lnTo order="36">
                  <a:pt x="74965" y="22469"/>
                </a:lnTo>
                <a:lnTo order="37">
                  <a:pt x="73137" y="28087"/>
                </a:lnTo>
                <a:lnTo order="38">
                  <a:pt x="71308" y="31831"/>
                </a:lnTo>
                <a:lnTo order="39">
                  <a:pt x="67652" y="37449"/>
                </a:lnTo>
                <a:lnTo order="40">
                  <a:pt x="63995" y="39321"/>
                </a:lnTo>
                <a:lnTo order="41">
                  <a:pt x="51196" y="43066"/>
                </a:lnTo>
                <a:lnTo order="42">
                  <a:pt x="38397" y="44938"/>
                </a:lnTo>
                <a:lnTo order="43">
                  <a:pt x="38397" y="44938"/>
                </a:lnTo>
                <a:lnTo order="44">
                  <a:pt x="27426" y="43066"/>
                </a:lnTo>
                <a:lnTo order="45">
                  <a:pt x="27426" y="61790"/>
                </a:lnTo>
                <a:close order="46"/>
                <a:moveTo order="47">
                  <a:pt x="27426" y="41194"/>
                </a:moveTo>
                <a:lnTo order="48">
                  <a:pt x="27426" y="41194"/>
                </a:lnTo>
                <a:lnTo order="49">
                  <a:pt x="36568" y="41194"/>
                </a:lnTo>
                <a:lnTo order="50">
                  <a:pt x="36568" y="41194"/>
                </a:lnTo>
                <a:lnTo order="51">
                  <a:pt x="45711" y="39321"/>
                </a:lnTo>
                <a:lnTo order="52">
                  <a:pt x="53024" y="35576"/>
                </a:lnTo>
                <a:lnTo order="53">
                  <a:pt x="56681" y="29959"/>
                </a:lnTo>
                <a:lnTo order="54">
                  <a:pt x="56681" y="22469"/>
                </a:lnTo>
                <a:lnTo order="55">
                  <a:pt x="56681" y="22469"/>
                </a:lnTo>
                <a:lnTo order="56">
                  <a:pt x="56681" y="13107"/>
                </a:lnTo>
                <a:lnTo order="57">
                  <a:pt x="51196" y="7490"/>
                </a:lnTo>
                <a:lnTo order="58">
                  <a:pt x="45711" y="3745"/>
                </a:lnTo>
                <a:lnTo order="59">
                  <a:pt x="36568" y="3745"/>
                </a:lnTo>
                <a:lnTo order="60">
                  <a:pt x="36568" y="3745"/>
                </a:lnTo>
                <a:lnTo order="61">
                  <a:pt x="31083" y="3745"/>
                </a:lnTo>
                <a:lnTo order="62">
                  <a:pt x="29255" y="5617"/>
                </a:lnTo>
                <a:lnTo order="63">
                  <a:pt x="27426" y="7490"/>
                </a:lnTo>
                <a:lnTo order="64">
                  <a:pt x="27426" y="41194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49" name="Shape 49"/>
          <p:cNvSpPr/>
          <p:nvPr/>
        </p:nvSpPr>
        <p:spPr>
          <a:xfrm>
            <a:off x="927100" y="3093590"/>
            <a:ext cx="577233" cy="329549"/>
          </a:xfrm>
          <a:custGeom>
            <a:avLst/>
            <a:pathLst>
              <a:path w="577233" h="329549">
                <a:moveTo order="1">
                  <a:pt x="141479" y="297897"/>
                </a:moveTo>
                <a:lnTo order="2">
                  <a:pt x="141479" y="297897"/>
                </a:lnTo>
                <a:lnTo order="3">
                  <a:pt x="167888" y="288588"/>
                </a:lnTo>
                <a:lnTo order="4">
                  <a:pt x="196184" y="279279"/>
                </a:lnTo>
                <a:lnTo order="5">
                  <a:pt x="222593" y="269969"/>
                </a:lnTo>
                <a:lnTo order="6">
                  <a:pt x="249002" y="260660"/>
                </a:lnTo>
                <a:lnTo order="7">
                  <a:pt x="249002" y="260660"/>
                </a:lnTo>
                <a:lnTo order="8">
                  <a:pt x="303707" y="236456"/>
                </a:lnTo>
                <a:lnTo order="9">
                  <a:pt x="354640" y="212252"/>
                </a:lnTo>
                <a:lnTo order="10">
                  <a:pt x="354640" y="212252"/>
                </a:lnTo>
                <a:lnTo order="11">
                  <a:pt x="405572" y="184324"/>
                </a:lnTo>
                <a:lnTo order="12">
                  <a:pt x="452731" y="154534"/>
                </a:lnTo>
                <a:lnTo order="13">
                  <a:pt x="452731" y="154534"/>
                </a:lnTo>
                <a:lnTo order="14">
                  <a:pt x="475368" y="139639"/>
                </a:lnTo>
                <a:lnTo order="15">
                  <a:pt x="498005" y="122883"/>
                </a:lnTo>
                <a:lnTo order="16">
                  <a:pt x="498005" y="122883"/>
                </a:lnTo>
                <a:lnTo order="17">
                  <a:pt x="539505" y="91231"/>
                </a:lnTo>
                <a:lnTo order="18">
                  <a:pt x="539505" y="91231"/>
                </a:lnTo>
                <a:lnTo order="19">
                  <a:pt x="577233" y="61441"/>
                </a:lnTo>
                <a:lnTo order="20">
                  <a:pt x="577233" y="0"/>
                </a:lnTo>
                <a:lnTo order="21">
                  <a:pt x="0" y="0"/>
                </a:lnTo>
                <a:lnTo order="22">
                  <a:pt x="0" y="329549"/>
                </a:lnTo>
                <a:lnTo order="23">
                  <a:pt x="0" y="329549"/>
                </a:lnTo>
                <a:lnTo order="24">
                  <a:pt x="33955" y="323963"/>
                </a:lnTo>
                <a:lnTo order="25">
                  <a:pt x="33955" y="323963"/>
                </a:lnTo>
                <a:lnTo order="26">
                  <a:pt x="86774" y="312792"/>
                </a:lnTo>
                <a:lnTo order="27">
                  <a:pt x="141479" y="297897"/>
                </a:lnTo>
                <a:lnTo order="28">
                  <a:pt x="141479" y="29789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50" name="Shape 50"/>
          <p:cNvSpPr/>
          <p:nvPr/>
        </p:nvSpPr>
        <p:spPr>
          <a:xfrm>
            <a:off x="927100" y="3542974"/>
            <a:ext cx="112448" cy="127326"/>
          </a:xfrm>
          <a:custGeom>
            <a:avLst/>
            <a:pathLst>
              <a:path w="112448" h="127326">
                <a:moveTo order="1">
                  <a:pt x="74330" y="15433"/>
                </a:moveTo>
                <a:lnTo order="2">
                  <a:pt x="74330" y="15433"/>
                </a:lnTo>
                <a:lnTo order="3">
                  <a:pt x="45742" y="27008"/>
                </a:lnTo>
                <a:lnTo order="4">
                  <a:pt x="19059" y="36654"/>
                </a:lnTo>
                <a:lnTo order="5">
                  <a:pt x="19059" y="36654"/>
                </a:lnTo>
                <a:lnTo order="6">
                  <a:pt x="0" y="42442"/>
                </a:lnTo>
                <a:lnTo order="7">
                  <a:pt x="0" y="127326"/>
                </a:lnTo>
                <a:lnTo order="8">
                  <a:pt x="112448" y="127326"/>
                </a:lnTo>
                <a:lnTo order="9">
                  <a:pt x="112448" y="0"/>
                </a:lnTo>
                <a:lnTo order="10">
                  <a:pt x="112448" y="0"/>
                </a:lnTo>
                <a:lnTo order="11">
                  <a:pt x="74330" y="15433"/>
                </a:lnTo>
                <a:lnTo order="12">
                  <a:pt x="74330" y="1543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51" name="Shape 51"/>
          <p:cNvSpPr/>
          <p:nvPr/>
        </p:nvSpPr>
        <p:spPr>
          <a:xfrm>
            <a:off x="1384388" y="3213426"/>
            <a:ext cx="112448" cy="449385"/>
          </a:xfrm>
          <a:custGeom>
            <a:avLst/>
            <a:pathLst>
              <a:path w="112448" h="449385">
                <a:moveTo order="1">
                  <a:pt x="71217" y="44938"/>
                </a:moveTo>
                <a:lnTo order="2">
                  <a:pt x="71217" y="44938"/>
                </a:lnTo>
                <a:lnTo order="3">
                  <a:pt x="52476" y="63663"/>
                </a:lnTo>
                <a:lnTo order="4">
                  <a:pt x="29986" y="84260"/>
                </a:lnTo>
                <a:lnTo order="5">
                  <a:pt x="29986" y="84260"/>
                </a:lnTo>
                <a:lnTo order="6">
                  <a:pt x="0" y="110474"/>
                </a:lnTo>
                <a:lnTo order="7">
                  <a:pt x="0" y="449385"/>
                </a:lnTo>
                <a:lnTo order="8">
                  <a:pt x="112448" y="449385"/>
                </a:lnTo>
                <a:lnTo order="9">
                  <a:pt x="112448" y="0"/>
                </a:lnTo>
                <a:lnTo order="10">
                  <a:pt x="112448" y="0"/>
                </a:lnTo>
                <a:lnTo order="11">
                  <a:pt x="108700" y="3745"/>
                </a:lnTo>
                <a:lnTo order="12">
                  <a:pt x="108700" y="3745"/>
                </a:lnTo>
                <a:lnTo order="13">
                  <a:pt x="71217" y="44938"/>
                </a:lnTo>
                <a:lnTo order="14">
                  <a:pt x="71217" y="44938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52" name="Shape 52"/>
          <p:cNvSpPr/>
          <p:nvPr/>
        </p:nvSpPr>
        <p:spPr>
          <a:xfrm>
            <a:off x="1234458" y="3363221"/>
            <a:ext cx="112448" cy="307079"/>
          </a:xfrm>
          <a:custGeom>
            <a:avLst/>
            <a:pathLst>
              <a:path w="112448" h="307079">
                <a:moveTo order="1">
                  <a:pt x="91832" y="15164"/>
                </a:moveTo>
                <a:lnTo order="2">
                  <a:pt x="91832" y="15164"/>
                </a:lnTo>
                <a:lnTo order="3">
                  <a:pt x="46853" y="49284"/>
                </a:lnTo>
                <a:lnTo order="4">
                  <a:pt x="0" y="79613"/>
                </a:lnTo>
                <a:lnTo order="5">
                  <a:pt x="0" y="307079"/>
                </a:lnTo>
                <a:lnTo order="6">
                  <a:pt x="112448" y="307079"/>
                </a:lnTo>
                <a:lnTo order="7">
                  <a:pt x="112448" y="0"/>
                </a:lnTo>
                <a:lnTo order="8">
                  <a:pt x="112448" y="0"/>
                </a:lnTo>
                <a:lnTo order="9">
                  <a:pt x="91832" y="15164"/>
                </a:lnTo>
                <a:lnTo order="10">
                  <a:pt x="91832" y="1516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53" name="Shape 53"/>
          <p:cNvSpPr/>
          <p:nvPr/>
        </p:nvSpPr>
        <p:spPr>
          <a:xfrm>
            <a:off x="1077031" y="3468077"/>
            <a:ext cx="112448" cy="202223"/>
          </a:xfrm>
          <a:custGeom>
            <a:avLst/>
            <a:pathLst>
              <a:path w="112448" h="202223">
                <a:moveTo order="1">
                  <a:pt x="88084" y="13418"/>
                </a:moveTo>
                <a:lnTo order="2">
                  <a:pt x="88084" y="13418"/>
                </a:lnTo>
                <a:lnTo order="3">
                  <a:pt x="59972" y="28752"/>
                </a:lnTo>
                <a:lnTo order="4">
                  <a:pt x="31860" y="42170"/>
                </a:lnTo>
                <a:lnTo order="5">
                  <a:pt x="31860" y="42170"/>
                </a:lnTo>
                <a:lnTo order="6">
                  <a:pt x="0" y="59421"/>
                </a:lnTo>
                <a:lnTo order="7">
                  <a:pt x="0" y="203181"/>
                </a:lnTo>
                <a:lnTo order="8">
                  <a:pt x="112448" y="203181"/>
                </a:lnTo>
                <a:lnTo order="9">
                  <a:pt x="112448" y="0"/>
                </a:lnTo>
                <a:lnTo order="10">
                  <a:pt x="88084" y="13418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54" name="Shape 54"/>
          <p:cNvSpPr txBox="1"/>
          <p:nvPr/>
        </p:nvSpPr>
        <p:spPr>
          <a:xfrm>
            <a:off x="571500" y="5981700"/>
            <a:ext cx="5029200" cy="11684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Greenlight Memorandum</a:t>
            </a:r>
          </a:p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Ron Burgundy – Coastal Television Broadcasting Group LLC</a:t>
            </a:r>
          </a:p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Deal Team: Jefferson/Lubeck/Blank</a:t>
            </a:r>
            <a:br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Source: Kalil &amp; Co.</a:t>
            </a:r>
          </a:p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April 2025</a:t>
            </a:r>
          </a:p>
        </p:txBody>
      </p:sp>
      <p:sp>
        <p:nvSpPr>
          <p:cNvPr id="55" name="Shape 55"/>
          <p:cNvSpPr txBox="1"/>
          <p:nvPr/>
        </p:nvSpPr>
        <p:spPr>
          <a:xfrm>
            <a:off x="927100" y="3784600"/>
            <a:ext cx="1841500" cy="190500"/>
          </a:xfrm>
          <a:prstGeom prst="rect">
            <a:avLst/>
          </a:prstGeom>
          <a:solidFill>
            <a:srgbClr val="FF0000"/>
          </a:solidFill>
        </p:spPr>
        <p:txBody>
          <a:bodyPr wrap="square" rtlCol="0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Greenlight Memorandum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 txBox="1"/>
          <p:nvPr/>
        </p:nvSpPr>
        <p:spPr>
          <a:xfrm>
            <a:off x="381000" y="7302500"/>
            <a:ext cx="3073400" cy="368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STRICTLY</a:t>
            </a: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CONFIDENTIAL</a:t>
            </a:r>
          </a:p>
        </p:txBody>
      </p:sp>
      <p:sp>
        <p:nvSpPr>
          <p:cNvPr id="5" name="Shape 5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6" name="Shape 6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8" name="Shape 28"/>
          <p:cNvSpPr txBox="1"/>
          <p:nvPr/>
        </p:nvSpPr>
        <p:spPr>
          <a:xfrm>
            <a:off x="5143500" y="787400"/>
            <a:ext cx="4559300" cy="25400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Industry Overview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Pay TV Subscribers (including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vMVPDs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), have decreased at a 5.5% CAGR since 2018, and are expected to decrease at a 2.3% CAGR into 2028. However, broadcasting stations have been able to increase retransmission price per subscriber at an 5% CAGR since 2013 with a forecasted 4% CAGR into 2028. This drives a forecasted increase in retransmission fees from $15.2Bn to $15.6Bn in 2028 (~1% CAGR). TV advertising revenue is expected to fluctuate with political cycles but remain at ~$24.8Bn into 2028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Federal Communications Commission (“FCC”) regulations limit local station ownership beyond 1 in a Designated Market Area (“DMA”). Consolidation in the industry is possible through a sidecar, when service areas do not overlap, or one is not ranked top 4 in the DMA. The Trump administration plans extensive deregulation within the FCC, likely enabling further consolidation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381000" y="317500"/>
            <a:ext cx="9296400" cy="4826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2100">
                <a:solidFill>
                  <a:srgbClr val="2A3E6B"/>
                </a:solidFill>
                <a:latin typeface="Calibri"/>
                <a:ea typeface="Calibri"/>
                <a:cs typeface="Calibri"/>
              </a:rPr>
              <a:t>Company Overview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9055100" y="53086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381000" y="812800"/>
            <a:ext cx="4648200" cy="46228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Company Background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Founded in 2008 and headquartered in Anchorage, Alaska, Coastal Television Broadcasting Group (“Coastal” or the “Company”) is a TV broadcaster that operates in 12 regional markets across the U.S.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Company is owned and operated by Bill Fielder, who purchased the Alaskan assets for $3.2MM from his former employer, Piedmont TV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Coastal currently owns/operates 18 stations and 5 dual affiliated stations with the “Big 4” networks of Fox (11 stations), NBC (3), ABC (6), and CBS (3). The Company also has 7 shared-services agreements (“sidecars,” or separate entities associated with Coastal) predominantly in mid-sized markets across Alaska, Mississippi, Wyoming, New York, Arkansas, Indiana, North Dakota, and Minnesota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Company generates revenue through two segments: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Retransmission (57% of 2024 Revenue)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Payments from Multichannel Video Programming Distributors (“MVPDs”, includes cable companies and virtual MVPDs “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vMVPDs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” such as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YouTubeTV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, etc.) for station access. Coastal charges an average fee of $4.43/subscriber/month, earning a 33% margin after paying affiliate network fees (Fox, etc.). Affiliate and MVPD contracts are 2-3 years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Advertising (43%)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Advertising revenue consists of local advertisements (62%), political advertisements (27%), and national advertisements (10%).  Advertising revenue is volatile between years due to the prevalence of political advertisements during election years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Company currently has an LOI in place with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Imagicomm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 to purchase 7 of its TV stations for ($28.0MM, 2.9x Broadcast Cash Flow or “BCF”) in Syracuse, NY (Fox), Binghamton, NY (Fox), Alexandria, LA (ABC), Idaho Falls, ID (NBC), and Greenwood, MS (Fox/ABC, CBS, and NBC) (collectively, the “Target”)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The acquisition provides an additional $44.8MM in revenue and $9.8MM of BCF in FY2024. Assets in the industry trade on BCF, which is EBITDA + Corporate G&amp;A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Local broadcast television programming is ~25% news/weather, ~15% prime network programming (including sports) and ~40% syndicated programming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In FY24 Coastal generated PF revenue and PF Adj. EBITDA of $118.1MM and $28.1MM (24% margin)</a:t>
            </a:r>
          </a:p>
        </p:txBody>
      </p:sp>
      <p:sp>
        <p:nvSpPr>
          <p:cNvPr id="32" name="Shape 32"/>
          <p:cNvSpPr/>
          <p:nvPr/>
        </p:nvSpPr>
        <p:spPr>
          <a:xfrm>
            <a:off x="381000" y="5435600"/>
            <a:ext cx="4533900" cy="2743200"/>
          </a:xfrm>
          <a:prstGeom prst="rect">
            <a:avLst/>
          </a:prstGeom>
        </p:spPr>
      </p:sp>
      <p:sp>
        <p:nvSpPr>
          <p:cNvPr id="33" name="Shape 33"/>
          <p:cNvSpPr txBox="1"/>
          <p:nvPr/>
        </p:nvSpPr>
        <p:spPr>
          <a:xfrm>
            <a:off x="5143500" y="5232400"/>
            <a:ext cx="4533900" cy="1778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 TV Industry Retransmission Revenue ($Bn)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5143500" y="3009900"/>
            <a:ext cx="4533900" cy="1778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 TV Industry Advertising Revenue ($Bn)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81000" y="5753100"/>
            <a:ext cx="4635500" cy="1778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Industry Ad Revenue / Sub and Retransmission Revenue / Sub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9144000" y="6070600"/>
            <a:ext cx="952500" cy="2159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7.9% CAGR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9144000" y="6553200"/>
            <a:ext cx="774700" cy="2159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12</a:t>
            </a:r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% CAGR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9169400" y="3970512"/>
            <a:ext cx="7747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4.3% CAGR</a:t>
            </a:r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9169400" y="4109310"/>
            <a:ext cx="7112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5.9% CAGR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9182100" y="4367079"/>
            <a:ext cx="9525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0.7% CAGR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9169400" y="4624848"/>
            <a:ext cx="774700" cy="168541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-3.0% CAGR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9055100" y="73152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graphicFrame>
        <p:nvGraphicFramePr>
          <p:cNvPr id="43" name="Table 43"/>
          <p:cNvGraphicFramePr>
            <a:graphicFrameLocks noGrp="1"/>
          </p:cNvGraphicFramePr>
          <p:nvPr/>
        </p:nvGraphicFramePr>
        <p:xfrm>
          <a:off x="5143500" y="3263900"/>
          <a:ext cx="4533900" cy="482600"/>
        </p:xfrm>
        <a:graphic>
          <a:graphicData uri="http://schemas.openxmlformats.org/drawingml/2006/table">
            <a:tbl>
              <a:tblPr/>
              <a:tblGrid>
                <a:gridCol w="1167250"/>
                <a:gridCol w="560262"/>
                <a:gridCol w="560262"/>
                <a:gridCol w="560262"/>
                <a:gridCol w="560262"/>
                <a:gridCol w="560262"/>
                <a:gridCol w="560262"/>
              </a:tblGrid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($MM)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2028P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</a:tr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Local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National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869"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Political Revenue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5143500" y="5461000"/>
          <a:ext cx="4533900" cy="393700"/>
        </p:xfrm>
        <a:graphic>
          <a:graphicData uri="http://schemas.openxmlformats.org/drawingml/2006/table">
            <a:tbl>
              <a:tblPr/>
              <a:tblGrid>
                <a:gridCol w="1000761"/>
                <a:gridCol w="587164"/>
                <a:gridCol w="587164"/>
                <a:gridCol w="587164"/>
                <a:gridCol w="587164"/>
                <a:gridCol w="587164"/>
                <a:gridCol w="587164"/>
              </a:tblGrid>
              <a:tr h="58834">
                <a:tc>
                  <a:txBody>
                    <a:bodyPr/>
                    <a:lstStyle/>
                    <a:p>
                      <a:pPr/>
                      <a:r>
                        <a:rPr lang="en-US" sz="6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($MM)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</a:tr>
              <a:tr h="113404"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Retrans Rev.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13404"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Network Fees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($45)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($46)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($46)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($47)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($48)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 txBox="1"/>
          <p:nvPr/>
        </p:nvSpPr>
        <p:spPr>
          <a:xfrm>
            <a:off x="381000" y="7302500"/>
            <a:ext cx="3073400" cy="368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STRICTLY</a:t>
            </a: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CONFIDENTIAL</a:t>
            </a:r>
          </a:p>
        </p:txBody>
      </p:sp>
      <p:sp>
        <p:nvSpPr>
          <p:cNvPr id="5" name="Shape 5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6" name="Shape 6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8" name="Shape 28"/>
          <p:cNvSpPr txBox="1"/>
          <p:nvPr/>
        </p:nvSpPr>
        <p:spPr>
          <a:xfrm>
            <a:off x="381000" y="317500"/>
            <a:ext cx="9296400" cy="4826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2100">
                <a:solidFill>
                  <a:srgbClr val="2A3E6B"/>
                </a:solidFill>
                <a:latin typeface="Calibri"/>
                <a:ea typeface="Calibri"/>
                <a:cs typeface="Calibri"/>
              </a:rPr>
              <a:t>Situation Overview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9055100" y="73152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381000" y="5080000"/>
            <a:ext cx="4000500" cy="2273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Investment Merits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High Free Cash Flow Generation</a:t>
            </a:r>
            <a:r>
              <a:rPr lang="en-US" sz="750" b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Low capex and NWC requirements produce 86% FCF conversion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Stable Earnings Generated from Blue-Chip Network Affiliates</a:t>
            </a:r>
            <a:r>
              <a:rPr lang="en-US" sz="750" b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Affiliates include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Fox, NBC, ABC, and CBS which all air premiere sporting events. Moreover, professional sports contracts expire in 2033 (NFL), 2036 (NBA), 2028 (MLB), and 2029 (NHL), outside MGG’s maturity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Geographic Diversification</a:t>
            </a:r>
            <a:r>
              <a:rPr lang="en-US" sz="750" b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 Coastal’s BCF is diversified across end markets, with the top market (Anchorage) comprising 12% of BCF and the top 5 comprising 46%. While the Company does have some concentration in states such as AK (24% of BCF) and NY (18%), Coastal’s markets within these states are geographically diversified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Local Advertising Focus</a:t>
            </a:r>
            <a:r>
              <a:rPr lang="en-US" sz="750" b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 63% of Coastal ads are local (sticky due to limited options), vs. 50% nationwide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4305300" y="4978400"/>
            <a:ext cx="5372100" cy="18288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Investment Risks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Industry Decline:</a:t>
            </a:r>
            <a:r>
              <a:rPr lang="en-US" sz="750" b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Coastal’s subscriber base has decreased at a 7% CAGR since Jan. 2022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i="1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Mitigant</a:t>
            </a:r>
            <a:r>
              <a:rPr lang="en-US" sz="750" i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Coastal has been able to increase retrans revenue/subscriber at a 6% CAGR since Jan. 2022 due to greater demand for local channels vs. others 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i="1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Mitigant</a:t>
            </a:r>
            <a:r>
              <a:rPr lang="en-US" sz="750" i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Pay TV churn is expected to slow into 2028, decreasing to a forecasted -2.3% CAGR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i="1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Mitigant</a:t>
            </a:r>
            <a:r>
              <a:rPr lang="en-US" sz="750" i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Political ad revenue has grown at a 5% CAGR since 2014, and local advertising is projected stable due to increased stickiness from unsophisticated and regional businesses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Minimal Founder Cash Equity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: While Bill Fielder is 65 and has all his net worth in the business and will offer a personal guarantee, he has invested ~$400k. All acquisitions have been debt-funded</a:t>
            </a:r>
          </a:p>
          <a:p>
            <a:pPr algn="l"/>
            <a:r>
              <a:rPr lang="en-US" sz="750">
                <a:solidFill>
                  <a:srgbClr val="3C3C3C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 i="1" u="sng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Mitigant:</a:t>
            </a:r>
            <a:r>
              <a:rPr lang="en-US" sz="750" i="1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 Post-Trump multiple expansion has increased founder equity value. Kalil has received post-Trump unsolicited interest from 3 parties for these assets, with one at 6-7x BCF, one at 7x, and one at 7-9x. However, Imagicomm is in a lender-forced sale (lead is Truist), runs out of liquidity Jun-25, and is under exclusivity. Coastal has had these stations under LOI since Oct-25, while Standard General executed an LOI to purchase an equal-sized batch for 6.7x BCF post-Trump deregulation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381000" y="685800"/>
            <a:ext cx="9283700" cy="13589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Transaction Overview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Kalil &amp; Co., the sell-side advisor to Imagicomm, approached MGG to provide $77MM of financing for Coastal. The financing will support (i) the acquisition of 7 Imagicomm stations for $28MM and (ii) the refinancing of Coastal’s existing $49MM credit facility (Whitehorse is the existing lender and has offered to upsize its facility to $77MM, with the last ~$10MM being preferred equity with a 1.4x liq. preference). Kalil has a long-standing relationship with both Coastal and MGG, having previously sold multiple stations to Coastal’s founder and facilitating MGG’s exit from KDOC in 2022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Company filed the transaction with the FCC on April 11th and expects approval within 90-120 days. The SPA mandates                                                                     that the Company close the transaction within five days of FCC approval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deal team is seeking approval to submit a LFTS at the terms outlined below to do more work on the opportunity:</a:t>
            </a:r>
          </a:p>
        </p:txBody>
      </p:sp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381000" y="1955800"/>
          <a:ext cx="6959600" cy="1117600"/>
        </p:xfrm>
        <a:graphic>
          <a:graphicData uri="http://schemas.openxmlformats.org/drawingml/2006/table">
            <a:tbl>
              <a:tblPr/>
              <a:tblGrid>
                <a:gridCol w="1739081"/>
                <a:gridCol w="1739081"/>
                <a:gridCol w="1739081"/>
                <a:gridCol w="1739081"/>
              </a:tblGrid>
              <a:tr h="370840">
                <a:tc gridSpan="4"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Debt Terms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3651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Credit Facility: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$77.0MM 1LTL </a:t>
                      </a:r>
                      <a:b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$30.0MM DDTL (Uncommitted)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Floor: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3.00%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93944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Pricing: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S+725 &gt;2.75x; S+700 &gt;2.00x; S+650 at &lt;2.00x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Maturity: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5-year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944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Prepayment Period: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NC-1 / 103 / 102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Amort: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5%/10%/5%/10%/5%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944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OID: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2.00%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ECF Sweep: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90.00% paid quarterly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3944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Covenants: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Max Leverage, Min FCCR, Min Cash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Agent Fee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$75,000 p.a.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7454900" y="2298700"/>
          <a:ext cx="2222500" cy="800100"/>
        </p:xfrm>
        <a:graphic>
          <a:graphicData uri="http://schemas.openxmlformats.org/drawingml/2006/table">
            <a:tbl>
              <a:tblPr/>
              <a:tblGrid>
                <a:gridCol w="1383688"/>
                <a:gridCol w="427481"/>
                <a:gridCol w="404982"/>
              </a:tblGrid>
              <a:tr h="113955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Uses of Funds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$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</a:tr>
              <a:tr h="113955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Refinance Existing Debt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5837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Purchase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3955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1143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3955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Uses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77.0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100%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7454900" y="1435100"/>
          <a:ext cx="2222500" cy="800100"/>
        </p:xfrm>
        <a:graphic>
          <a:graphicData uri="http://schemas.openxmlformats.org/drawingml/2006/table">
            <a:tbl>
              <a:tblPr/>
              <a:tblGrid>
                <a:gridCol w="1064335"/>
                <a:gridCol w="641517"/>
                <a:gridCol w="510298"/>
              </a:tblGrid>
              <a:tr h="96520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Sources of Funds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$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</a:tr>
              <a:tr h="96520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MGG DDTL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  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520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MGG 1L TL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77.0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100%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520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11430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6520"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Sources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77.0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100%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381000" y="3124200"/>
          <a:ext cx="9296400" cy="1905000"/>
        </p:xfrm>
        <a:graphic>
          <a:graphicData uri="http://schemas.openxmlformats.org/drawingml/2006/table">
            <a:tbl>
              <a:tblPr/>
              <a:tblGrid>
                <a:gridCol w="1417886"/>
                <a:gridCol w="505507"/>
                <a:gridCol w="691540"/>
                <a:gridCol w="376238"/>
                <a:gridCol w="376238"/>
                <a:gridCol w="1133475"/>
                <a:gridCol w="400665"/>
                <a:gridCol w="400665"/>
                <a:gridCol w="1061884"/>
                <a:gridCol w="1312606"/>
                <a:gridCol w="571695"/>
                <a:gridCol w="524002"/>
                <a:gridCol w="524002"/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PF Capitalization ($MMs)2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Return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4553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Security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$Face </a:t>
                      </a:r>
                      <a:b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Outst.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$Face </a:t>
                      </a:r>
                      <a:b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Comm.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Maturity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Spread / Floor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OID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Debt Outst./</a:t>
                      </a:r>
                      <a:b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Avg. 24/25 PF BCF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Debt Outst./</a:t>
                      </a:r>
                      <a:b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Avg. 24/25 PF EBITDA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LTV % </a:t>
                      </a:r>
                      <a:b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(Outst.)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3-YR IRR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MOIC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437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MGG DDTL</a:t>
                      </a:r>
                    </a:p>
                  </a:txBody>
                  <a:tcPr marL="110965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May-30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S+7.25% / 3.00%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0.0%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84437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MGG 1L TL</a:t>
                      </a:r>
                    </a:p>
                  </a:txBody>
                  <a:tcPr marL="110965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77.0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77.0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May-30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S+7.25% / 3.00%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66.6%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12.8%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1.33x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84437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Total Senior Debt 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$77.0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$107.0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gridSpan="2" row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3.3x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66.6%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437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</a:t>
                      </a:r>
                    </a:p>
                  </a:txBody>
                  <a:tcPr marL="110965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2.1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437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Net Debt 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$74.9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Waypoint Preferred Equity</a:t>
                      </a:r>
                    </a:p>
                  </a:txBody>
                  <a:tcPr marL="110965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10.9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12% PIK (Step Up to 14% after 2026)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3.5x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72.1%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Equity</a:t>
                      </a:r>
                    </a:p>
                  </a:txBody>
                  <a:tcPr marL="110965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3.7x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72.9%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Implied Equity</a:t>
                      </a:r>
                    </a:p>
                  </a:txBody>
                  <a:tcPr marL="110965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30.4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4.7x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4.9x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98.2%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Capitalization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$115,5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7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398" marR="7398" marT="73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40">
                <a:tc gridSpan="13">
                  <a:txBody>
                    <a:bodyPr/>
                    <a:lstStyle/>
                    <a:p>
                      <a:pPr/>
                      <a:r>
                        <a:rPr lang="en-US" sz="600" i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Note: Leverage Multiples based on Avg. 24/25 EBITDA and BCF of $23.6MM and $25.0MM, respectively. EV Multiple based on Avg. of Cash PP and Standard General-Imagicomm BCF multiple of 6.7x</a:t>
                      </a:r>
                    </a:p>
                  </a:txBody>
                  <a:tcPr marL="7398" marR="7398" marT="739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 txBox="1"/>
          <p:nvPr/>
        </p:nvSpPr>
        <p:spPr>
          <a:xfrm>
            <a:off x="381000" y="7302500"/>
            <a:ext cx="3073400" cy="368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STRICTLY</a:t>
            </a: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CONFIDENTIAL</a:t>
            </a:r>
          </a:p>
        </p:txBody>
      </p:sp>
      <p:sp>
        <p:nvSpPr>
          <p:cNvPr id="5" name="Shape 5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6" name="Shape 6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8" name="Shape 28"/>
          <p:cNvSpPr txBox="1"/>
          <p:nvPr/>
        </p:nvSpPr>
        <p:spPr>
          <a:xfrm>
            <a:off x="381000" y="317500"/>
            <a:ext cx="9296400" cy="4826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2100">
                <a:solidFill>
                  <a:srgbClr val="2A3E6B"/>
                </a:solidFill>
                <a:latin typeface="Calibri"/>
                <a:ea typeface="Calibri"/>
                <a:cs typeface="Calibri"/>
              </a:rPr>
              <a:t>Initial Financial Analysis – Management Case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9055100" y="73152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359400" y="736600"/>
            <a:ext cx="4445000" cy="23368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Commentary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Revenue: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Historical advertising revenue has been lumpy between years due to election cycles, and this lumpiness is projected in the forecast period.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Retransmission revenue is projected to fall slightly over the forecast period due to a decline in subscribers. However, overall industry subscriber decline is expected to slow into 2028, and Coastal has also historically been able to increase retransmission fees over time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Network Fees: 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Payments to affiliate networks as % of retransmission revenue 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Capex: 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company has low capex, primarily consisting of technology investments, facilities, and construction/maintenance of towers. Once constructed, tower failure represents a very minimal risk, and TV towers have a lifespan of 30-50 years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Amortization: 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Amortization is structured as to align with election cycles, allowing increased deleveraging during higher-revenue election years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ECF Sweep: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90%, modeled quarterly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384800" y="3098800"/>
            <a:ext cx="4445000" cy="1905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 Overview and Competitive Landscape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5384800" y="5880100"/>
            <a:ext cx="4445000" cy="1651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24/25 Avg. EBITDA Sensitivity to Avg. Ad Revenue/Subscriber and Subscriber Growth </a:t>
            </a:r>
          </a:p>
        </p:txBody>
      </p:sp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5359400" y="6019800"/>
          <a:ext cx="4432300" cy="1282700"/>
        </p:xfrm>
        <a:graphic>
          <a:graphicData uri="http://schemas.openxmlformats.org/drawingml/2006/table">
            <a:tbl>
              <a:tblPr/>
              <a:tblGrid>
                <a:gridCol w="864425"/>
                <a:gridCol w="864425"/>
                <a:gridCol w="450450"/>
                <a:gridCol w="450450"/>
                <a:gridCol w="450450"/>
                <a:gridCol w="450450"/>
                <a:gridCol w="450450"/>
                <a:gridCol w="450450"/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Sub Growth Rate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1307">
                <a:tc rowSpan="7"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Avg. Ad $/Sub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-3.8%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-5.0%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-6.3%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-7.5%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-8.8%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-10.0%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45.2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24.7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24.3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23.9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23.5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23.1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22.7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44.1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23.6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23.3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22.9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22.5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22.1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21.8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43.0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22.6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22.2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21.9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21.5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21.2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20.8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41.9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21.6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21.2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20.9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20.5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20.2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19.8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40.8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20.5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20.2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19.9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19.5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19.2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18.9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39.7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19.5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19.2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18.8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18.5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18.2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17.9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/>
                        <a:t/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5384800" y="3276600"/>
          <a:ext cx="4445000" cy="2603500"/>
        </p:xfrm>
        <a:graphic>
          <a:graphicData uri="http://schemas.openxmlformats.org/drawingml/2006/table">
            <a:tbl>
              <a:tblPr/>
              <a:tblGrid>
                <a:gridCol w="617189"/>
                <a:gridCol w="556931"/>
                <a:gridCol w="531993"/>
                <a:gridCol w="514049"/>
                <a:gridCol w="555040"/>
                <a:gridCol w="555040"/>
                <a:gridCol w="480797"/>
                <a:gridCol w="629283"/>
              </a:tblGrid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Market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BCF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Market Share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Competitors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Rank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DMA Rank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Population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Syracuse (NY)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16.8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3.4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650k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Greenville (MS)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9.9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Fargo (ND)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9.0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24.1%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Binghamton (NY)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7.5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0.8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244k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Jonesboro (AR)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134k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Lafayette (IN)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Duluth (MN)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0.6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292k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Idaho Falls (ID)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157k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Anchorage (AK)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13.2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3.5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401k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Fairbanks (AK)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96k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Juneau (AK)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63.4%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Jackson (TN)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Meridian (MS)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6.7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0.6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Elmira (NY)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4.0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84k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Alexandria (LA)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3.1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149k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Cheyenne (WY)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3.3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42.8%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</a:tr>
              <a:tr h="144377"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Casper (WY)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69.3%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381000" y="800100"/>
          <a:ext cx="4660900" cy="6502400"/>
        </p:xfrm>
        <a:graphic>
          <a:graphicData uri="http://schemas.openxmlformats.org/drawingml/2006/table">
            <a:tbl>
              <a:tblPr/>
              <a:tblGrid>
                <a:gridCol w="1203753"/>
                <a:gridCol w="324608"/>
                <a:gridCol w="300563"/>
                <a:gridCol w="402754"/>
                <a:gridCol w="402754"/>
                <a:gridCol w="402754"/>
                <a:gridCol w="402754"/>
                <a:gridCol w="402754"/>
                <a:gridCol w="402754"/>
                <a:gridCol w="402754"/>
              </a:tblGrid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 Forma P&amp;L ($MMs)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2022A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2023A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2024A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2025E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2026E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2027E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2028E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5365C"/>
                    </a:solidFill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Advertising Revenue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26.0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22.6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32.5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25.0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35.7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30.3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41.1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Advertising Revenue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16.9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18.4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17.4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20.9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23.6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Retransmission Revenue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39.8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40.9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40.5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41.1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40.6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Retransmission Revenue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28.5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26.4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25.7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26.0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Revenue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$107.8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$118.1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$108.6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$123.9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$118.2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$131.4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Growth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9.5%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(8.1%)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14.1%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(4.6%)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11.2%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Ad Growth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(13.0%)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43.5%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(23.1%)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43.2%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(15.1%)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35.5%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Ad Growth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8.4%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(5.1%)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27.8%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(6.1%)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13.0%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Retrans Growth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(0.8%)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2.7%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(1.0%)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0.5%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(1.2%)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Retrans Growth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(7.2%)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(2.7%)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(2.0%)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2.4%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0.8%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Advertising Gross Profit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35.4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44.6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38.6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51.9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47.0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58.3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Retransmission Gross Profit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15.2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22.2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20.4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19.5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18.9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Gross Profit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$38.1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$61.2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$66.8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$59.0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$71.4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$77.2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Margin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57.6%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56.7%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56.5%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54.4%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57.7%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56.6%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58.8%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Advertising Gross Margin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87.9%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89.6%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87.8%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91.1%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89.5%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91.6%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90.1%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Retransmission Gross Margin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38.0%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37.7%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32.9%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30.9%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29.7%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29.7%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28.4%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Engineering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(2.6)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(5.7)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(5.7)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(5.8)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(6.0)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(6.1)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SG&amp;A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(12.8)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(19.6)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(20.7)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(21.4)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(22.5)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(23.2)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(24.2)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Other Opex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(7.4)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(12.3)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(12.8)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(13.2)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(13.6)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(14.2)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Opex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($22.8)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($36.8)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($38.7)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($39.9)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($41.5)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($42.8)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($44.5)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BCF 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16.7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14.6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19.7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13.2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21.3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16.8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23.8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BCF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11.2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9.8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7.4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8.8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10.5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Broadcast Cash Flow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$16.7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$25.8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$29.5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$20.6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$31.4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$25.6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$34.3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Margin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25.3%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23.9%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25.0%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19.0%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25.3%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21.6%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26.1%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Margin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25.3%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23.3%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26.9%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20.2%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27.9%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23.4%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29.1%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Margin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21.8%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17.2%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18.9%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(-) Coastal Coporate Overhead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($1.6)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EBITDA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15.3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13.1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18.3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11.8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15.3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EBITDA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11.2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9.8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7.4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8.8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10.5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EBITDA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$15.3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$28.1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$19.2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$29.9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$32.7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Margin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22.6%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23.8%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17.7%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20.4%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24.9%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Margin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23.1%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21.0%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24.9%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18.0%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26.0%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21.4%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Margin</a:t>
                      </a:r>
                    </a:p>
                  </a:txBody>
                  <a:tcPr marL="90368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24.7%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21.8%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17.2%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18.9%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Cash Flow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7 mos.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Reported EBITDA 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$11.3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$29.9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$24.1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$32.7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Change in NWC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(1.2)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(1.5)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Capex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(0.4)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Agent Fee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(0.0)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Cash Taxes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Tax Rate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25.00%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(0.5)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(1.9)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(3.9)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Unlevered FCF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$9.2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$24.4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$21.2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$27.3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Interest Expense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(4.9)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Amortization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(2.2)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(3.9)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DDTL Draw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ECF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(0.5)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(5.6)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(12.4)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Levered FCF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$1.6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$0.0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Ending Cash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$2.1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$3.7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$7.7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$11.4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DEDDB"/>
                    </a:solidFill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Debt Schedule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365C"/>
                    </a:solidFill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MGG 1L TL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Beginning Balance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Spread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GRID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77.0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74.2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60.9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44.9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Amortization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Floor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3.00%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(2.2)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(3.9)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(7.7)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ECF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Amort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GRID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(0.5)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(5.6)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(12.1)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(12.4)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3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DDTL Draw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ECF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90.00%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0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Ending Balance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77.0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74.2 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60.9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44.9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24.8 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Interest Expense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(4.9)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(7.1)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(5.2)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(3.5)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602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Debt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$77.0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$74.2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$60.9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$44.9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$24.8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Leverage (xEBITDA)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2.7x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3.9x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2.0x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1.9x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0.8x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Leverage (xBCF)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2.6x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3.6x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1.9x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1.8x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0.7x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  <a:tr h="77700"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FCCR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1.4x</a:t>
                      </a:r>
                    </a:p>
                  </a:txBody>
                  <a:tcPr marL="3765" marR="3765" marT="37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1.6x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2.1x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2.1x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5100">
                <a:tc>
                  <a:txBody>
                    <a:bodyPr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Note: 2022 Financials are Coastal only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