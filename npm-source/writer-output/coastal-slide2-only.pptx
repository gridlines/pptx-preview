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7772400" type="custom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 txBox="1"/>
          <p:nvPr/>
        </p:nvSpPr>
        <p:spPr>
          <a:xfrm>
            <a:off x="381000" y="7302500"/>
            <a:ext cx="3073400" cy="368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STRICTLY</a:t>
            </a:r>
            <a:r>
              <a:rPr lang="en-US" sz="3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CONFIDENTIAL</a:t>
            </a:r>
          </a:p>
        </p:txBody>
      </p:sp>
      <p:sp>
        <p:nvSpPr>
          <p:cNvPr id="5" name="Shape 5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6" name="Shape 6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8" name="Shape 28"/>
          <p:cNvSpPr txBox="1"/>
          <p:nvPr/>
        </p:nvSpPr>
        <p:spPr>
          <a:xfrm>
            <a:off x="5143500" y="787400"/>
            <a:ext cx="4559300" cy="25400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75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Industry Overview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Pay TV Subscribers (including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vMVPDs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), have decreased at a 5.5% CAGR since 2018, and are expected to decrease at a 2.3% CAGR into 2028. However, broadcasting stations have been able to increase retransmission price per subscriber at an 5% CAGR since 2013 with a forecasted 4% CAGR into 2028. This drives a forecasted increase in retransmission fees from $15.2Bn to $15.6Bn in 2028 (~1% CAGR). TV advertising revenue is expected to fluctuate with political cycles but remain at ~$24.8Bn into 2028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Federal Communications Commission (“FCC”) regulations limit local station ownership beyond 1 in a Designated Market Area (“DMA”). Consolidation in the industry is possible through a sidecar, when service areas do not overlap, or one is not ranked top 4 in the DMA. The Trump administration plans extensive deregulation within the FCC, likely enabling further consolidation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381000" y="317500"/>
            <a:ext cx="9296400" cy="4826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2100">
                <a:solidFill>
                  <a:srgbClr val="2A3E6B"/>
                </a:solidFill>
                <a:latin typeface="Calibri"/>
                <a:ea typeface="Calibri"/>
                <a:cs typeface="Calibri"/>
              </a:rPr>
              <a:t>Company Overview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9055100" y="53086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4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381000" y="812800"/>
            <a:ext cx="4648200" cy="46228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75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Company Background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Founded in 2008 and headquartered in Anchorage, Alaska, Coastal Television Broadcasting Group (“Coastal” or the “Company”) is a TV broadcaster that operates in 12 regional markets across the U.S.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Company is owned and operated by Bill Fielder, who purchased the Alaskan assets for $3.2MM from his former employer, Piedmont TV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Coastal currently owns/operates 18 stations and 5 dual affiliated stations with the “Big 4” networks of Fox (11 stations), NBC (3), ABC (6), and CBS (3). The Company also has 7 shared-services agreements (“sidecars,” or separate entities associated with Coastal) predominantly in mid-sized markets across Alaska, Mississippi, Wyoming, New York, Arkansas, Indiana, North Dakota, and Minnesota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Company generates revenue through two segments: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Retransmission (57% of 2024 Revenue)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Payments from Multichannel Video Programming Distributors (“MVPDs”, includes cable companies and virtual MVPDs “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vMVPDs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” such as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YouTubeTV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, etc.) for station access. Coastal charges an average fee of $4.43/subscriber/month, earning a 33% margin after paying affiliate network fees (Fox, etc.). Affiliate and MVPD contracts are 2-3 years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Advertising (43%)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Advertising revenue consists of local advertisements (62%), political advertisements (27%), and national advertisements (10%).  Advertising revenue is volatile between years due to the prevalence of political advertisements during election years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Company currently has an LOI in place with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Imagicomm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 to purchase 7 of its TV stations for ($28.0MM, 2.9x Broadcast Cash Flow or “BCF”) in Syracuse, NY (Fox), Binghamton, NY (Fox), Alexandria, LA (ABC), Idaho Falls, ID (NBC), and Greenwood, MS (Fox/ABC, CBS, and NBC) (collectively, the “Target”)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acquisition provides an additional $44.8MM in revenue and $9.8MM of BCF in FY2024. Assets in the industry trade on BCF, which is EBITDA + Corporate G&amp;A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Local broadcast television programming is ~25% news/weather, ~15% prime network programming (including sports) and ~40% syndicated programming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In FY24 Coastal generated PF revenue and PF Adj. EBITDA of $118.1MM and $28.1MM (24% margin)</a:t>
            </a:r>
          </a:p>
        </p:txBody>
      </p:sp>
      <p:sp>
        <p:nvSpPr>
          <p:cNvPr id="32" name="Shape 32"/>
          <p:cNvSpPr/>
          <p:nvPr/>
        </p:nvSpPr>
        <p:spPr>
          <a:xfrm>
            <a:off x="381000" y="5435600"/>
            <a:ext cx="4533900" cy="2743200"/>
          </a:xfrm>
          <a:prstGeom prst="rect">
            <a:avLst/>
          </a:prstGeom>
        </p:spPr>
      </p:sp>
      <p:sp>
        <p:nvSpPr>
          <p:cNvPr id="33" name="Shape 33"/>
          <p:cNvSpPr txBox="1"/>
          <p:nvPr/>
        </p:nvSpPr>
        <p:spPr>
          <a:xfrm>
            <a:off x="5143500" y="5232400"/>
            <a:ext cx="4533900" cy="1778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 TV Industry Retransmission Revenue ($Bn)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5143500" y="3009900"/>
            <a:ext cx="4533900" cy="1778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 TV Industry Advertising Revenue ($Bn)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81000" y="5753100"/>
            <a:ext cx="4635500" cy="1778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Industry Ad Revenue / Sub and Retransmission Revenue / Sub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9144000" y="6070600"/>
            <a:ext cx="952500" cy="2159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7.9% CAGR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9144000" y="6553200"/>
            <a:ext cx="774700" cy="2159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12</a:t>
            </a:r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% CAGR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9169400" y="3970512"/>
            <a:ext cx="7747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4.3% CAGR</a:t>
            </a:r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9169400" y="4109310"/>
            <a:ext cx="7112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5.9% CAGR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9182100" y="4367079"/>
            <a:ext cx="9525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0.7% CAGR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9169400" y="4624848"/>
            <a:ext cx="7747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-3.0% CAGR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9055100" y="73152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graphicFrame>
        <p:nvGraphicFramePr>
          <p:cNvPr id="43" name="Table 43"/>
          <p:cNvGraphicFramePr>
            <a:graphicFrameLocks noGrp="1"/>
          </p:cNvGraphicFramePr>
          <p:nvPr/>
        </p:nvGraphicFramePr>
        <p:xfrm>
          <a:off x="5143500" y="3263900"/>
          <a:ext cx="4533900" cy="482600"/>
        </p:xfrm>
        <a:graphic>
          <a:graphicData uri="http://schemas.openxmlformats.org/drawingml/2006/table">
            <a:tbl>
              <a:tblPr/>
              <a:tblGrid>
                <a:gridCol w="1167250"/>
                <a:gridCol w="560262"/>
                <a:gridCol w="560262"/>
                <a:gridCol w="560262"/>
                <a:gridCol w="560262"/>
                <a:gridCol w="560262"/>
                <a:gridCol w="560262"/>
              </a:tblGrid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($MM)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</a:tr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Local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National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Political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5143500" y="5461000"/>
          <a:ext cx="4533900" cy="393700"/>
        </p:xfrm>
        <a:graphic>
          <a:graphicData uri="http://schemas.openxmlformats.org/drawingml/2006/table">
            <a:tbl>
              <a:tblPr/>
              <a:tblGrid>
                <a:gridCol w="1000761"/>
                <a:gridCol w="587164"/>
                <a:gridCol w="587164"/>
                <a:gridCol w="587164"/>
                <a:gridCol w="587164"/>
                <a:gridCol w="587164"/>
                <a:gridCol w="587164"/>
              </a:tblGrid>
              <a:tr h="58834">
                <a:tc>
                  <a:txBody>
                    <a:bodyPr/>
                    <a:lstStyle/>
                    <a:p>
                      <a:pPr/>
                      <a:r>
                        <a:rPr lang="en-US" sz="6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($MM)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</a:tr>
              <a:tr h="113404"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Retrans Rev.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13404"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Network Fees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($45)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($46)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($46)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($47)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($48)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